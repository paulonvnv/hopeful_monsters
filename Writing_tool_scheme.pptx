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7"/>
    <p:restoredTop sz="67660"/>
  </p:normalViewPr>
  <p:slideViewPr>
    <p:cSldViewPr snapToGrid="0">
      <p:cViewPr>
        <p:scale>
          <a:sx n="113" d="100"/>
          <a:sy n="113" d="100"/>
        </p:scale>
        <p:origin x="216" y="-1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696801-3F02-644D-9AA7-A71CBF05A8FA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9C3CCD-85DC-FF4B-B178-8B54A6B9E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986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The tool begins with the user's query, which can be a phrase, sentence, or paragraph. </a:t>
            </a:r>
          </a:p>
          <a:p>
            <a:pPr marL="228600" indent="-228600">
              <a:buAutoNum type="arabicPeriod"/>
            </a:pPr>
            <a:r>
              <a:rPr lang="en-US" dirty="0"/>
              <a:t>Then the query is paraphrased v times using Llama generating v variants (V). This is where the population simulation begins. The model assumes two stages: a Haploid stage and a Diploid stage as in the biological cycle of plasmodium parasites. </a:t>
            </a:r>
          </a:p>
          <a:p>
            <a:pPr marL="228600" indent="-228600">
              <a:buAutoNum type="arabicPeriod"/>
            </a:pPr>
            <a:r>
              <a:rPr lang="en-US" dirty="0"/>
              <a:t>In the first simulation or generation, N haploid individuals are chosen from the v variants with uniform sampling with replacement.</a:t>
            </a:r>
          </a:p>
          <a:p>
            <a:pPr marL="228600" indent="-228600">
              <a:buAutoNum type="arabicPeriod"/>
            </a:pPr>
            <a:r>
              <a:rPr lang="en-US" dirty="0"/>
              <a:t>On each of these N haploid individuals </a:t>
            </a:r>
          </a:p>
          <a:p>
            <a:pPr marL="228600" indent="-228600">
              <a:buAutoNum type="arabicPeriod"/>
            </a:pPr>
            <a:r>
              <a:rPr lang="en-US" dirty="0"/>
              <a:t>Then each of these is randomly chosen to form zygotes and initiate the diploid stage. </a:t>
            </a:r>
          </a:p>
          <a:p>
            <a:pPr marL="228600" indent="-228600">
              <a:buAutoNum type="arabicPeriod"/>
            </a:pPr>
            <a:r>
              <a:rPr lang="en-US" dirty="0"/>
              <a:t>Once the zygotes are formed, each haplotype may be subject to meiotic mutation with a mutation rate 𝜇, and then recombination of these two haplotypes may occur with a recombination rate 𝜌. </a:t>
            </a:r>
          </a:p>
          <a:p>
            <a:pPr marL="457200" lvl="1" indent="0">
              <a:buNone/>
            </a:pPr>
            <a:r>
              <a:rPr lang="en-US" dirty="0"/>
              <a:t>Look next slide for more details.</a:t>
            </a:r>
          </a:p>
          <a:p>
            <a:pPr marL="228600" indent="-228600">
              <a:buAutoNum type="arabicPeriod"/>
            </a:pPr>
            <a:r>
              <a:rPr lang="en-US" dirty="0"/>
              <a:t>At the end of the diploid stage, 2N haploid copies are obtained, of which N will be randomly selected to form part of the next generation. </a:t>
            </a:r>
          </a:p>
          <a:p>
            <a:pPr marL="457200" lvl="1" indent="0">
              <a:buNone/>
            </a:pPr>
            <a:r>
              <a:rPr lang="en-US" dirty="0"/>
              <a:t>This process will be repeated t times. </a:t>
            </a:r>
          </a:p>
          <a:p>
            <a:pPr marL="228600" indent="-228600">
              <a:buAutoNum type="arabicPeriod"/>
            </a:pPr>
            <a:r>
              <a:rPr lang="en-US" dirty="0"/>
              <a:t>At the end of the t generations, the 2N haploid copies are stored, and the user can choose n samples randomly. </a:t>
            </a:r>
          </a:p>
          <a:p>
            <a:pPr marL="457200" lvl="1" indent="0">
              <a:buNone/>
            </a:pPr>
            <a:r>
              <a:rPr lang="en-US" dirty="0"/>
              <a:t>This random selection of samples can be repeated indefinitely by the user without needing to repeat the simulation.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C3CCD-85DC-FF4B-B178-8B54A6B9E0D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5294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Mutation and recombination during the meiotic stage of the simulation:</a:t>
            </a:r>
          </a:p>
          <a:p>
            <a:r>
              <a:rPr lang="en-US" dirty="0"/>
              <a:t>For each haploid sentence within a zygote:</a:t>
            </a:r>
          </a:p>
          <a:p>
            <a:r>
              <a:rPr lang="en-US" dirty="0"/>
              <a:t>Mutation can occur at any of the letters (not including spaces) at a constant mutation rate 𝜇. Mutations include substitution, deletion or insertion of the </a:t>
            </a:r>
            <a:r>
              <a:rPr lang="en-US"/>
              <a:t>letter.</a:t>
            </a:r>
          </a:p>
          <a:p>
            <a:endParaRPr lang="en-US" dirty="0"/>
          </a:p>
          <a:p>
            <a:r>
              <a:rPr lang="en-US" dirty="0"/>
              <a:t>Notice that separators between words are not including in this process, so the number of words after this step will not change.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Then the two haploid sentences can recombine at a rate 𝜌, and word separators are used as break points in order to switch words between haploid sentences.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C3CCD-85DC-FF4B-B178-8B54A6B9E0D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779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A092B-0682-20DF-5804-5B7C7FD39A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4D496B-2B3D-298C-F713-A580E0411D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BB220-7911-995B-53BD-C749DDC38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CB466-08D1-5241-B572-E4EBC26890D4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22777-AC70-C3A8-CFC8-544ADC045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B010D-91D9-083A-EBA1-59370672D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A6F86-517A-B24D-B402-43A402CC3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79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B2CAE-0244-AD9F-8E15-24B2F2F80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B1E6E-03D9-99FC-2103-8C5B12E8A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386B7-9B85-6157-0DC8-E9634B391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CB466-08D1-5241-B572-E4EBC26890D4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3D86A-25ED-D4D2-549C-924396C2E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B2E3E-8956-78F3-A63B-0C82AD483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A6F86-517A-B24D-B402-43A402CC3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878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A5E72-6DBC-5632-7CA3-F91C15635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6C2DC-50E8-BD70-9F95-D9E59ADF47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1059D-D934-9526-1A08-09ECE279C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CB466-08D1-5241-B572-E4EBC26890D4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5108F-ACDB-5611-523A-E2482A9B1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40E69-E919-5162-9D84-41E4F72FE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A6F86-517A-B24D-B402-43A402CC3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529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A8A39-80E8-C686-E774-D5F2C111A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856F9-4FA4-BEBE-4BFF-417B99E3A3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4D9497-80A4-7196-F2C3-26BF56B731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1A1E12-D13C-6E2A-A470-827BF28B1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CB466-08D1-5241-B572-E4EBC26890D4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9213C0-7171-BB7A-32B7-C572710F1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73ED5D-6F64-D930-3A77-4A8358EB4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A6F86-517A-B24D-B402-43A402CC3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595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82DD2-2941-BCE3-28C6-4E7C94F55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1746AF-3E79-7483-CCF3-F7D3C1941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A1425-4288-D0BD-BA11-34D42298A7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CE350A-39C5-1802-D9CC-5866033ECF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28A153-F30B-0CBF-C8F3-7440712382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513A2F-F4D0-EF94-4504-24D5AA667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CB466-08D1-5241-B572-E4EBC26890D4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0A680E-0B2A-5369-7399-5E8C7AFFC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A54F93-C93B-5DEF-E8D4-B76BAA736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A6F86-517A-B24D-B402-43A402CC3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919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598FC-DB64-2C88-C43E-A81317CC5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165268-6863-866F-ABF3-2A92045E5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CB466-08D1-5241-B572-E4EBC26890D4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B90B0-CC0A-03EA-A639-10E4A852E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8944A-022C-7D4F-6722-283AE5128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A6F86-517A-B24D-B402-43A402CC3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809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8B4E79-4681-C6BC-F10E-3AF51F67B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CB466-08D1-5241-B572-E4EBC26890D4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204A17-BFCC-7AEC-2F5F-D462E6DDD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56789-B502-6751-B1CE-A16076135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A6F86-517A-B24D-B402-43A402CC3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982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5E12A-96A5-407D-784F-4CA5F5007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D75D6-46E9-3343-84CC-4528FF513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382CAB-1F94-59D1-49D7-6A99BFE443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6DEEB4-61BB-8C9C-9E58-F6D9F9E2A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CB466-08D1-5241-B572-E4EBC26890D4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09AFFD-E49F-74AE-39F9-18CF1F277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6B7E23-F86D-801A-5D1D-C433DD87F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A6F86-517A-B24D-B402-43A402CC3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65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7E19F-602B-71FA-3344-4BB2ABDC6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18BA65-798A-33B3-8B5D-9A74867BC0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9CF10F-30E3-EE81-6C4D-501102D33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135B3-7A67-BFF9-E83D-CB72194B2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CB466-08D1-5241-B572-E4EBC26890D4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248670-9B87-FA74-CFBF-07D68C5ED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DB3674-CD6F-DC7B-65A2-A3E37068F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A6F86-517A-B24D-B402-43A402CC3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213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CC927-B822-4824-8A35-538D979F9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E0AA18-AA2B-7F04-0376-81912584B4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FF5F1-7DAE-16F0-C0A0-0530C7A6F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CB466-08D1-5241-B572-E4EBC26890D4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08391-17AB-4219-B461-43BFE386D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12039-5815-3282-80EA-ED1809DFE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A6F86-517A-B24D-B402-43A402CC3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912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DBE619-7F2C-AA2B-DEDE-114DE256A1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FA95D5-50EF-6C7F-7BD3-336C74EC49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54AEB-D8D9-D468-5A22-0ACEFE32B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CB466-08D1-5241-B572-E4EBC26890D4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C83D3-AF2D-1E86-9438-1D05B7110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DF7F9-23C3-C003-2F26-32BAED6D4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A6F86-517A-B24D-B402-43A402CC3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10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3E6947-50CA-5A7C-6A56-B4BC2B1B0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6A6FD9-C8FE-3DA0-7C29-5210B0490D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3A8AE-F672-9838-FF30-01C53B2E27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7CB466-08D1-5241-B572-E4EBC26890D4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F2454-1499-ADEE-44A0-577457A9B0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65FE2-E103-FB3E-3011-730F9B48B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3A6F86-517A-B24D-B402-43A402CC3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482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93B11E3-BAA9-2B49-6348-DE8FF089327C}"/>
              </a:ext>
            </a:extLst>
          </p:cNvPr>
          <p:cNvSpPr txBox="1"/>
          <p:nvPr/>
        </p:nvSpPr>
        <p:spPr>
          <a:xfrm>
            <a:off x="300942" y="254643"/>
            <a:ext cx="1321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Writing tool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5A8156-9AAC-AFAB-58BF-9DADFC37322E}"/>
              </a:ext>
            </a:extLst>
          </p:cNvPr>
          <p:cNvSpPr txBox="1"/>
          <p:nvPr/>
        </p:nvSpPr>
        <p:spPr>
          <a:xfrm>
            <a:off x="509286" y="1250066"/>
            <a:ext cx="1084547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Required parameters: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Query (Q): Sentence or paragraph used as input.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Sample size (n): Desired number of outputs.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Variants (v): Number of times the query is going to be paraphrased before simulation starts.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Population size (N): Number of individuals (Sentences or paragraphs) in the simulated population.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Generations (t): Number of generations the simulation will run.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Mutation rate (𝜇): per site (character or letter), per individual rate at which mutation might occur.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Recombination rate (𝜌): Rate at which haplotypes (sentences within the diploid stage of the individual) might recombine (switching of words between haplotypes).</a:t>
            </a:r>
          </a:p>
        </p:txBody>
      </p:sp>
    </p:spTree>
    <p:extLst>
      <p:ext uri="{BB962C8B-B14F-4D97-AF65-F5344CB8AC3E}">
        <p14:creationId xmlns:p14="http://schemas.microsoft.com/office/powerpoint/2010/main" val="3579596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141">
            <a:extLst>
              <a:ext uri="{FF2B5EF4-FFF2-40B4-BE49-F238E27FC236}">
                <a16:creationId xmlns:a16="http://schemas.microsoft.com/office/drawing/2014/main" id="{DB24FFE9-AC24-42C6-A028-0BA56D9B1D73}"/>
              </a:ext>
            </a:extLst>
          </p:cNvPr>
          <p:cNvSpPr/>
          <p:nvPr/>
        </p:nvSpPr>
        <p:spPr>
          <a:xfrm>
            <a:off x="3024789" y="1437006"/>
            <a:ext cx="2155325" cy="4798905"/>
          </a:xfrm>
          <a:prstGeom prst="rect">
            <a:avLst/>
          </a:prstGeom>
          <a:solidFill>
            <a:schemeClr val="accent1">
              <a:alpha val="3536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entagon 3">
            <a:extLst>
              <a:ext uri="{FF2B5EF4-FFF2-40B4-BE49-F238E27FC236}">
                <a16:creationId xmlns:a16="http://schemas.microsoft.com/office/drawing/2014/main" id="{38D1D47A-D72E-00C3-B4D9-ACB6C0E0A65B}"/>
              </a:ext>
            </a:extLst>
          </p:cNvPr>
          <p:cNvSpPr/>
          <p:nvPr/>
        </p:nvSpPr>
        <p:spPr>
          <a:xfrm>
            <a:off x="304737" y="3371462"/>
            <a:ext cx="474562" cy="381964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031746-FB1A-0AC5-AA5B-A68B937E0C60}"/>
              </a:ext>
            </a:extLst>
          </p:cNvPr>
          <p:cNvSpPr txBox="1"/>
          <p:nvPr/>
        </p:nvSpPr>
        <p:spPr>
          <a:xfrm>
            <a:off x="63467" y="3907187"/>
            <a:ext cx="7852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My query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BAB7F4-74BB-22EF-7169-1FD13782F6F3}"/>
              </a:ext>
            </a:extLst>
          </p:cNvPr>
          <p:cNvSpPr txBox="1"/>
          <p:nvPr/>
        </p:nvSpPr>
        <p:spPr>
          <a:xfrm>
            <a:off x="1346458" y="1808880"/>
            <a:ext cx="995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Paraphrase with Llama</a:t>
            </a:r>
          </a:p>
        </p:txBody>
      </p:sp>
      <p:sp>
        <p:nvSpPr>
          <p:cNvPr id="7" name="Chevron 6">
            <a:extLst>
              <a:ext uri="{FF2B5EF4-FFF2-40B4-BE49-F238E27FC236}">
                <a16:creationId xmlns:a16="http://schemas.microsoft.com/office/drawing/2014/main" id="{DE59D58E-A650-A9F6-9C48-ED4685223845}"/>
              </a:ext>
            </a:extLst>
          </p:cNvPr>
          <p:cNvSpPr/>
          <p:nvPr/>
        </p:nvSpPr>
        <p:spPr>
          <a:xfrm>
            <a:off x="1439055" y="2446959"/>
            <a:ext cx="810228" cy="393540"/>
          </a:xfrm>
          <a:prstGeom prst="chevron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V</a:t>
            </a:r>
            <a:r>
              <a:rPr lang="en-US" sz="1600" baseline="-250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Chevron 7">
            <a:extLst>
              <a:ext uri="{FF2B5EF4-FFF2-40B4-BE49-F238E27FC236}">
                <a16:creationId xmlns:a16="http://schemas.microsoft.com/office/drawing/2014/main" id="{6B35D8BF-148D-FBF2-B74E-D8DD18286DA5}"/>
              </a:ext>
            </a:extLst>
          </p:cNvPr>
          <p:cNvSpPr/>
          <p:nvPr/>
        </p:nvSpPr>
        <p:spPr>
          <a:xfrm>
            <a:off x="1439055" y="2998729"/>
            <a:ext cx="810228" cy="393540"/>
          </a:xfrm>
          <a:prstGeom prst="chevro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V</a:t>
            </a:r>
            <a:r>
              <a:rPr lang="en-US" sz="1600" baseline="-250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Chevron 8">
            <a:extLst>
              <a:ext uri="{FF2B5EF4-FFF2-40B4-BE49-F238E27FC236}">
                <a16:creationId xmlns:a16="http://schemas.microsoft.com/office/drawing/2014/main" id="{CFAF0877-DAE2-4ADB-9472-7250B3384618}"/>
              </a:ext>
            </a:extLst>
          </p:cNvPr>
          <p:cNvSpPr/>
          <p:nvPr/>
        </p:nvSpPr>
        <p:spPr>
          <a:xfrm>
            <a:off x="1439055" y="3568231"/>
            <a:ext cx="810228" cy="393540"/>
          </a:xfrm>
          <a:prstGeom prst="chevron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V</a:t>
            </a:r>
            <a:r>
              <a:rPr lang="en-US" sz="1600" baseline="-250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0" name="Chevron 9">
            <a:extLst>
              <a:ext uri="{FF2B5EF4-FFF2-40B4-BE49-F238E27FC236}">
                <a16:creationId xmlns:a16="http://schemas.microsoft.com/office/drawing/2014/main" id="{F8D9A794-20E4-2A78-C8F8-1958FAB30983}"/>
              </a:ext>
            </a:extLst>
          </p:cNvPr>
          <p:cNvSpPr/>
          <p:nvPr/>
        </p:nvSpPr>
        <p:spPr>
          <a:xfrm>
            <a:off x="1439055" y="4340790"/>
            <a:ext cx="810228" cy="393540"/>
          </a:xfrm>
          <a:prstGeom prst="chevro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V</a:t>
            </a:r>
            <a:r>
              <a:rPr lang="en-US" sz="1600" baseline="-25000" dirty="0" err="1">
                <a:solidFill>
                  <a:schemeClr val="bg1"/>
                </a:solidFill>
              </a:rPr>
              <a:t>v</a:t>
            </a:r>
            <a:endParaRPr lang="en-US" sz="1600" baseline="-25000" dirty="0">
              <a:solidFill>
                <a:schemeClr val="bg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B1BB767-6EC8-EE9A-2868-99E93C4EFE42}"/>
              </a:ext>
            </a:extLst>
          </p:cNvPr>
          <p:cNvCxnSpPr>
            <a:stCxn id="4" idx="3"/>
            <a:endCxn id="7" idx="1"/>
          </p:cNvCxnSpPr>
          <p:nvPr/>
        </p:nvCxnSpPr>
        <p:spPr>
          <a:xfrm flipV="1">
            <a:off x="779299" y="2643729"/>
            <a:ext cx="856526" cy="9187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EB27BFC-9BB7-E710-6E60-52DF1BF8B2C4}"/>
              </a:ext>
            </a:extLst>
          </p:cNvPr>
          <p:cNvCxnSpPr>
            <a:stCxn id="4" idx="3"/>
            <a:endCxn id="8" idx="1"/>
          </p:cNvCxnSpPr>
          <p:nvPr/>
        </p:nvCxnSpPr>
        <p:spPr>
          <a:xfrm flipV="1">
            <a:off x="779299" y="3195499"/>
            <a:ext cx="856526" cy="3669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3779F09-005B-1DAE-C7B2-A95632E5CF74}"/>
              </a:ext>
            </a:extLst>
          </p:cNvPr>
          <p:cNvCxnSpPr>
            <a:stCxn id="4" idx="3"/>
            <a:endCxn id="9" idx="1"/>
          </p:cNvCxnSpPr>
          <p:nvPr/>
        </p:nvCxnSpPr>
        <p:spPr>
          <a:xfrm>
            <a:off x="779299" y="3562444"/>
            <a:ext cx="856526" cy="2025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A0A1474-E626-CD47-B22B-7812634756A3}"/>
              </a:ext>
            </a:extLst>
          </p:cNvPr>
          <p:cNvCxnSpPr>
            <a:stCxn id="4" idx="3"/>
            <a:endCxn id="10" idx="1"/>
          </p:cNvCxnSpPr>
          <p:nvPr/>
        </p:nvCxnSpPr>
        <p:spPr>
          <a:xfrm>
            <a:off x="779299" y="3562444"/>
            <a:ext cx="856526" cy="975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D26AEFD-A597-F612-31D9-99A95FAB6C7E}"/>
              </a:ext>
            </a:extLst>
          </p:cNvPr>
          <p:cNvSpPr txBox="1"/>
          <p:nvPr/>
        </p:nvSpPr>
        <p:spPr>
          <a:xfrm rot="5400000">
            <a:off x="1653251" y="399952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A071E3-9C4F-15A2-89CB-AE6C3F016CB9}"/>
              </a:ext>
            </a:extLst>
          </p:cNvPr>
          <p:cNvSpPr txBox="1"/>
          <p:nvPr/>
        </p:nvSpPr>
        <p:spPr>
          <a:xfrm>
            <a:off x="6745000" y="42147"/>
            <a:ext cx="1258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Simulation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4C1FE1-2E43-C00C-99FC-2CB6438640B1}"/>
              </a:ext>
            </a:extLst>
          </p:cNvPr>
          <p:cNvSpPr txBox="1"/>
          <p:nvPr/>
        </p:nvSpPr>
        <p:spPr>
          <a:xfrm>
            <a:off x="3024789" y="842367"/>
            <a:ext cx="1331088" cy="613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Pick N Haploid individuals at generation t</a:t>
            </a:r>
          </a:p>
        </p:txBody>
      </p:sp>
      <p:sp>
        <p:nvSpPr>
          <p:cNvPr id="23" name="Chevron 22">
            <a:extLst>
              <a:ext uri="{FF2B5EF4-FFF2-40B4-BE49-F238E27FC236}">
                <a16:creationId xmlns:a16="http://schemas.microsoft.com/office/drawing/2014/main" id="{C064B904-8ACA-D9C8-1638-7C3C4AAA6FB7}"/>
              </a:ext>
            </a:extLst>
          </p:cNvPr>
          <p:cNvSpPr/>
          <p:nvPr/>
        </p:nvSpPr>
        <p:spPr>
          <a:xfrm>
            <a:off x="3285219" y="1906603"/>
            <a:ext cx="810228" cy="266218"/>
          </a:xfrm>
          <a:prstGeom prst="chevron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H</a:t>
            </a:r>
            <a:r>
              <a:rPr lang="en-US" sz="1600" baseline="-250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4" name="Chevron 23">
            <a:extLst>
              <a:ext uri="{FF2B5EF4-FFF2-40B4-BE49-F238E27FC236}">
                <a16:creationId xmlns:a16="http://schemas.microsoft.com/office/drawing/2014/main" id="{FB1EF684-6A51-C840-20B9-98B95C8DFEAE}"/>
              </a:ext>
            </a:extLst>
          </p:cNvPr>
          <p:cNvSpPr/>
          <p:nvPr/>
        </p:nvSpPr>
        <p:spPr>
          <a:xfrm>
            <a:off x="3285219" y="2265815"/>
            <a:ext cx="810228" cy="266218"/>
          </a:xfrm>
          <a:prstGeom prst="chevron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H</a:t>
            </a:r>
            <a:r>
              <a:rPr lang="en-US" sz="1600" baseline="-250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5" name="Chevron 24">
            <a:extLst>
              <a:ext uri="{FF2B5EF4-FFF2-40B4-BE49-F238E27FC236}">
                <a16:creationId xmlns:a16="http://schemas.microsoft.com/office/drawing/2014/main" id="{64780BE5-957A-90C9-95C0-5192EFE0A8FE}"/>
              </a:ext>
            </a:extLst>
          </p:cNvPr>
          <p:cNvSpPr/>
          <p:nvPr/>
        </p:nvSpPr>
        <p:spPr>
          <a:xfrm>
            <a:off x="3285219" y="2625027"/>
            <a:ext cx="810228" cy="266218"/>
          </a:xfrm>
          <a:prstGeom prst="chevron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H</a:t>
            </a:r>
            <a:r>
              <a:rPr lang="en-US" sz="1600" baseline="-250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6" name="Chevron 25">
            <a:extLst>
              <a:ext uri="{FF2B5EF4-FFF2-40B4-BE49-F238E27FC236}">
                <a16:creationId xmlns:a16="http://schemas.microsoft.com/office/drawing/2014/main" id="{506D8D3F-0221-CA95-1F26-CBF6FBC842B7}"/>
              </a:ext>
            </a:extLst>
          </p:cNvPr>
          <p:cNvSpPr/>
          <p:nvPr/>
        </p:nvSpPr>
        <p:spPr>
          <a:xfrm>
            <a:off x="3285219" y="2984239"/>
            <a:ext cx="810228" cy="266218"/>
          </a:xfrm>
          <a:prstGeom prst="chevro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H</a:t>
            </a:r>
            <a:r>
              <a:rPr lang="en-US" sz="1600" baseline="-250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7" name="Chevron 26">
            <a:extLst>
              <a:ext uri="{FF2B5EF4-FFF2-40B4-BE49-F238E27FC236}">
                <a16:creationId xmlns:a16="http://schemas.microsoft.com/office/drawing/2014/main" id="{1B2C4BA4-DCEC-EC18-2C9C-2ADAD34C7B93}"/>
              </a:ext>
            </a:extLst>
          </p:cNvPr>
          <p:cNvSpPr/>
          <p:nvPr/>
        </p:nvSpPr>
        <p:spPr>
          <a:xfrm>
            <a:off x="3285219" y="3355203"/>
            <a:ext cx="810228" cy="266218"/>
          </a:xfrm>
          <a:prstGeom prst="chevron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H</a:t>
            </a:r>
            <a:r>
              <a:rPr lang="en-US" sz="1600" baseline="-250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8" name="Chevron 27">
            <a:extLst>
              <a:ext uri="{FF2B5EF4-FFF2-40B4-BE49-F238E27FC236}">
                <a16:creationId xmlns:a16="http://schemas.microsoft.com/office/drawing/2014/main" id="{8F07C05B-8BFC-938F-7930-CF2B4BE8BBEE}"/>
              </a:ext>
            </a:extLst>
          </p:cNvPr>
          <p:cNvSpPr/>
          <p:nvPr/>
        </p:nvSpPr>
        <p:spPr>
          <a:xfrm>
            <a:off x="3285219" y="3695553"/>
            <a:ext cx="810228" cy="266218"/>
          </a:xfrm>
          <a:prstGeom prst="chevron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H</a:t>
            </a:r>
            <a:r>
              <a:rPr lang="en-US" sz="1600" baseline="-250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29" name="Chevron 28">
            <a:extLst>
              <a:ext uri="{FF2B5EF4-FFF2-40B4-BE49-F238E27FC236}">
                <a16:creationId xmlns:a16="http://schemas.microsoft.com/office/drawing/2014/main" id="{B1C316E5-905C-0FE7-49FF-C0857588586D}"/>
              </a:ext>
            </a:extLst>
          </p:cNvPr>
          <p:cNvSpPr/>
          <p:nvPr/>
        </p:nvSpPr>
        <p:spPr>
          <a:xfrm>
            <a:off x="3285219" y="4051077"/>
            <a:ext cx="810228" cy="266218"/>
          </a:xfrm>
          <a:prstGeom prst="chevro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H</a:t>
            </a:r>
            <a:r>
              <a:rPr lang="en-US" sz="1600" baseline="-250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0" name="Chevron 29">
            <a:extLst>
              <a:ext uri="{FF2B5EF4-FFF2-40B4-BE49-F238E27FC236}">
                <a16:creationId xmlns:a16="http://schemas.microsoft.com/office/drawing/2014/main" id="{C6B93007-DD83-9C96-6A81-219E690DAC4B}"/>
              </a:ext>
            </a:extLst>
          </p:cNvPr>
          <p:cNvSpPr/>
          <p:nvPr/>
        </p:nvSpPr>
        <p:spPr>
          <a:xfrm>
            <a:off x="3285219" y="4734330"/>
            <a:ext cx="810228" cy="266218"/>
          </a:xfrm>
          <a:prstGeom prst="chevro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H</a:t>
            </a:r>
            <a:r>
              <a:rPr lang="en-US" sz="1600" baseline="-25000" dirty="0">
                <a:solidFill>
                  <a:schemeClr val="bg1"/>
                </a:solidFill>
              </a:rPr>
              <a:t>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2A248F-5FFB-C739-EC20-EE3447489869}"/>
              </a:ext>
            </a:extLst>
          </p:cNvPr>
          <p:cNvSpPr txBox="1"/>
          <p:nvPr/>
        </p:nvSpPr>
        <p:spPr>
          <a:xfrm rot="5400000">
            <a:off x="3507128" y="433712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2" name="Chevron 31">
            <a:extLst>
              <a:ext uri="{FF2B5EF4-FFF2-40B4-BE49-F238E27FC236}">
                <a16:creationId xmlns:a16="http://schemas.microsoft.com/office/drawing/2014/main" id="{94FDA174-7C79-B82E-B838-CEDA7313F440}"/>
              </a:ext>
            </a:extLst>
          </p:cNvPr>
          <p:cNvSpPr/>
          <p:nvPr/>
        </p:nvSpPr>
        <p:spPr>
          <a:xfrm>
            <a:off x="5333361" y="1733076"/>
            <a:ext cx="822960" cy="457200"/>
          </a:xfrm>
          <a:prstGeom prst="chevron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H’</a:t>
            </a:r>
            <a:r>
              <a:rPr lang="en-US" sz="1100" baseline="-25000" dirty="0">
                <a:solidFill>
                  <a:schemeClr val="bg1"/>
                </a:solidFill>
              </a:rPr>
              <a:t>1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</a:rPr>
              <a:t>H’</a:t>
            </a:r>
            <a:r>
              <a:rPr lang="en-US" sz="1100" baseline="-250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3" name="Chevron 32">
            <a:extLst>
              <a:ext uri="{FF2B5EF4-FFF2-40B4-BE49-F238E27FC236}">
                <a16:creationId xmlns:a16="http://schemas.microsoft.com/office/drawing/2014/main" id="{E57E0C4D-5510-5CE9-31D0-EB8D67F7866D}"/>
              </a:ext>
            </a:extLst>
          </p:cNvPr>
          <p:cNvSpPr/>
          <p:nvPr/>
        </p:nvSpPr>
        <p:spPr>
          <a:xfrm>
            <a:off x="5333361" y="2311281"/>
            <a:ext cx="822960" cy="457200"/>
          </a:xfrm>
          <a:prstGeom prst="chevron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H</a:t>
            </a:r>
            <a:r>
              <a:rPr lang="en-US" sz="1100" baseline="-25000" dirty="0">
                <a:solidFill>
                  <a:schemeClr val="bg1"/>
                </a:solidFill>
              </a:rPr>
              <a:t>2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</a:rPr>
              <a:t>H</a:t>
            </a:r>
            <a:r>
              <a:rPr lang="en-US" sz="1100" baseline="-250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4" name="Chevron 33">
            <a:extLst>
              <a:ext uri="{FF2B5EF4-FFF2-40B4-BE49-F238E27FC236}">
                <a16:creationId xmlns:a16="http://schemas.microsoft.com/office/drawing/2014/main" id="{8B100DBC-CFAC-6BB8-55EB-25F9AFF4CEC9}"/>
              </a:ext>
            </a:extLst>
          </p:cNvPr>
          <p:cNvSpPr/>
          <p:nvPr/>
        </p:nvSpPr>
        <p:spPr>
          <a:xfrm>
            <a:off x="5333361" y="2888748"/>
            <a:ext cx="822960" cy="457200"/>
          </a:xfrm>
          <a:prstGeom prst="chevron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H’</a:t>
            </a:r>
            <a:r>
              <a:rPr lang="en-US" sz="1100" baseline="-25000" dirty="0">
                <a:solidFill>
                  <a:schemeClr val="bg1"/>
                </a:solidFill>
              </a:rPr>
              <a:t>1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</a:rPr>
              <a:t>H</a:t>
            </a:r>
            <a:r>
              <a:rPr lang="en-US" sz="1100" baseline="-250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5" name="Chevron 34">
            <a:extLst>
              <a:ext uri="{FF2B5EF4-FFF2-40B4-BE49-F238E27FC236}">
                <a16:creationId xmlns:a16="http://schemas.microsoft.com/office/drawing/2014/main" id="{FFB806C7-10A1-9BC8-CB1B-018D6DCFBA2C}"/>
              </a:ext>
            </a:extLst>
          </p:cNvPr>
          <p:cNvSpPr/>
          <p:nvPr/>
        </p:nvSpPr>
        <p:spPr>
          <a:xfrm>
            <a:off x="5333361" y="3466953"/>
            <a:ext cx="822960" cy="457200"/>
          </a:xfrm>
          <a:prstGeom prst="chevron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H’</a:t>
            </a:r>
            <a:r>
              <a:rPr lang="en-US" sz="1100" baseline="-25000" dirty="0">
                <a:solidFill>
                  <a:schemeClr val="bg1"/>
                </a:solidFill>
              </a:rPr>
              <a:t>7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</a:rPr>
              <a:t>H</a:t>
            </a:r>
            <a:r>
              <a:rPr lang="en-US" sz="1100" baseline="-250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7" name="Chevron 36">
            <a:extLst>
              <a:ext uri="{FF2B5EF4-FFF2-40B4-BE49-F238E27FC236}">
                <a16:creationId xmlns:a16="http://schemas.microsoft.com/office/drawing/2014/main" id="{B255FCF6-41AA-4638-C4FC-174501D7DACA}"/>
              </a:ext>
            </a:extLst>
          </p:cNvPr>
          <p:cNvSpPr/>
          <p:nvPr/>
        </p:nvSpPr>
        <p:spPr>
          <a:xfrm>
            <a:off x="5333361" y="4584875"/>
            <a:ext cx="822960" cy="457200"/>
          </a:xfrm>
          <a:prstGeom prst="chevron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H</a:t>
            </a:r>
            <a:r>
              <a:rPr lang="en-US" sz="1100" baseline="-25000" dirty="0">
                <a:solidFill>
                  <a:schemeClr val="bg1"/>
                </a:solidFill>
              </a:rPr>
              <a:t>N-1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</a:rPr>
              <a:t>H</a:t>
            </a:r>
            <a:r>
              <a:rPr lang="en-US" sz="1100" baseline="-25000" dirty="0">
                <a:solidFill>
                  <a:schemeClr val="bg1"/>
                </a:solidFill>
              </a:rPr>
              <a:t>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B401F13-42C0-39FD-C5C5-EE8A6CFB7F94}"/>
              </a:ext>
            </a:extLst>
          </p:cNvPr>
          <p:cNvSpPr txBox="1"/>
          <p:nvPr/>
        </p:nvSpPr>
        <p:spPr>
          <a:xfrm>
            <a:off x="6003074" y="2006756"/>
            <a:ext cx="3064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Z</a:t>
            </a:r>
            <a:r>
              <a:rPr lang="en-US" sz="1100" baseline="-250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1B0FA6D-BCD6-6C29-4145-950EBBA7DDF1}"/>
              </a:ext>
            </a:extLst>
          </p:cNvPr>
          <p:cNvSpPr txBox="1"/>
          <p:nvPr/>
        </p:nvSpPr>
        <p:spPr>
          <a:xfrm>
            <a:off x="6012982" y="2562628"/>
            <a:ext cx="3064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Z</a:t>
            </a:r>
            <a:r>
              <a:rPr lang="en-US" sz="1100" baseline="-250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D3BF15A-1BF4-5F0B-C44D-1472E977E4B5}"/>
              </a:ext>
            </a:extLst>
          </p:cNvPr>
          <p:cNvSpPr txBox="1"/>
          <p:nvPr/>
        </p:nvSpPr>
        <p:spPr>
          <a:xfrm>
            <a:off x="6012982" y="3167593"/>
            <a:ext cx="3064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Z</a:t>
            </a:r>
            <a:r>
              <a:rPr lang="en-US" sz="1100" baseline="-250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CAD224D-E111-7716-E2B9-6015B75B2702}"/>
              </a:ext>
            </a:extLst>
          </p:cNvPr>
          <p:cNvSpPr txBox="1"/>
          <p:nvPr/>
        </p:nvSpPr>
        <p:spPr>
          <a:xfrm>
            <a:off x="6003074" y="3753426"/>
            <a:ext cx="3064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Z</a:t>
            </a:r>
            <a:r>
              <a:rPr lang="en-US" sz="1100" baseline="-250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C9CEEB7-E48E-C7DB-A8FD-295F1C23FA84}"/>
              </a:ext>
            </a:extLst>
          </p:cNvPr>
          <p:cNvSpPr txBox="1"/>
          <p:nvPr/>
        </p:nvSpPr>
        <p:spPr>
          <a:xfrm>
            <a:off x="6014992" y="4911270"/>
            <a:ext cx="3225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Z</a:t>
            </a:r>
            <a:r>
              <a:rPr lang="en-US" sz="1100" baseline="-25000" dirty="0"/>
              <a:t>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0D09520-7521-2972-7DA7-549F77538323}"/>
              </a:ext>
            </a:extLst>
          </p:cNvPr>
          <p:cNvSpPr txBox="1"/>
          <p:nvPr/>
        </p:nvSpPr>
        <p:spPr>
          <a:xfrm>
            <a:off x="4988388" y="836842"/>
            <a:ext cx="133108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Pick 2N gametes to form N diploid zygotes (Z)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E6030C1-9B31-6AB1-99E9-43DA9A42FCDB}"/>
              </a:ext>
            </a:extLst>
          </p:cNvPr>
          <p:cNvSpPr txBox="1"/>
          <p:nvPr/>
        </p:nvSpPr>
        <p:spPr>
          <a:xfrm rot="5400000">
            <a:off x="5593254" y="405480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57" name="Chevron 56">
            <a:extLst>
              <a:ext uri="{FF2B5EF4-FFF2-40B4-BE49-F238E27FC236}">
                <a16:creationId xmlns:a16="http://schemas.microsoft.com/office/drawing/2014/main" id="{D316DD89-CED2-9063-E7D0-982C9526A82E}"/>
              </a:ext>
            </a:extLst>
          </p:cNvPr>
          <p:cNvSpPr/>
          <p:nvPr/>
        </p:nvSpPr>
        <p:spPr>
          <a:xfrm>
            <a:off x="7180270" y="1733076"/>
            <a:ext cx="822960" cy="457200"/>
          </a:xfrm>
          <a:prstGeom prst="chevron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H’</a:t>
            </a:r>
            <a:r>
              <a:rPr lang="en-US" sz="1100" baseline="-25000" dirty="0">
                <a:solidFill>
                  <a:schemeClr val="bg1"/>
                </a:solidFill>
              </a:rPr>
              <a:t>1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</a:rPr>
              <a:t>H’’</a:t>
            </a:r>
            <a:r>
              <a:rPr lang="en-US" sz="1100" baseline="-250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8" name="Chevron 57">
            <a:extLst>
              <a:ext uri="{FF2B5EF4-FFF2-40B4-BE49-F238E27FC236}">
                <a16:creationId xmlns:a16="http://schemas.microsoft.com/office/drawing/2014/main" id="{CD1A0C70-4525-8205-6934-72DB8F777EF3}"/>
              </a:ext>
            </a:extLst>
          </p:cNvPr>
          <p:cNvSpPr/>
          <p:nvPr/>
        </p:nvSpPr>
        <p:spPr>
          <a:xfrm>
            <a:off x="7180270" y="2311281"/>
            <a:ext cx="822960" cy="457200"/>
          </a:xfrm>
          <a:prstGeom prst="chevron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H</a:t>
            </a:r>
            <a:r>
              <a:rPr lang="en-US" sz="1100" baseline="-25000" dirty="0">
                <a:solidFill>
                  <a:schemeClr val="bg1"/>
                </a:solidFill>
              </a:rPr>
              <a:t>2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</a:rPr>
              <a:t>H</a:t>
            </a:r>
            <a:r>
              <a:rPr lang="en-US" sz="1100" baseline="-250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59" name="Chevron 58">
            <a:extLst>
              <a:ext uri="{FF2B5EF4-FFF2-40B4-BE49-F238E27FC236}">
                <a16:creationId xmlns:a16="http://schemas.microsoft.com/office/drawing/2014/main" id="{BDB5FCF8-64A3-1BC7-065B-F3593A525523}"/>
              </a:ext>
            </a:extLst>
          </p:cNvPr>
          <p:cNvSpPr/>
          <p:nvPr/>
        </p:nvSpPr>
        <p:spPr>
          <a:xfrm>
            <a:off x="7180270" y="2888748"/>
            <a:ext cx="822960" cy="457200"/>
          </a:xfrm>
          <a:prstGeom prst="chevron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H’</a:t>
            </a:r>
            <a:r>
              <a:rPr lang="en-US" sz="1100" baseline="-25000" dirty="0">
                <a:solidFill>
                  <a:schemeClr val="bg1"/>
                </a:solidFill>
              </a:rPr>
              <a:t>1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</a:rPr>
              <a:t>H</a:t>
            </a:r>
            <a:r>
              <a:rPr lang="en-US" sz="1100" baseline="-250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60" name="Chevron 59">
            <a:extLst>
              <a:ext uri="{FF2B5EF4-FFF2-40B4-BE49-F238E27FC236}">
                <a16:creationId xmlns:a16="http://schemas.microsoft.com/office/drawing/2014/main" id="{1DDF939A-6F76-2B27-FDEA-31413191EE6A}"/>
              </a:ext>
            </a:extLst>
          </p:cNvPr>
          <p:cNvSpPr/>
          <p:nvPr/>
        </p:nvSpPr>
        <p:spPr>
          <a:xfrm>
            <a:off x="7180270" y="3466953"/>
            <a:ext cx="822960" cy="457200"/>
          </a:xfrm>
          <a:prstGeom prst="chevron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H’</a:t>
            </a:r>
            <a:r>
              <a:rPr lang="en-US" sz="1100" baseline="-25000" dirty="0">
                <a:solidFill>
                  <a:schemeClr val="bg1"/>
                </a:solidFill>
              </a:rPr>
              <a:t>7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</a:rPr>
              <a:t>H</a:t>
            </a:r>
            <a:r>
              <a:rPr lang="en-US" sz="1100" baseline="-250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61" name="Chevron 60">
            <a:extLst>
              <a:ext uri="{FF2B5EF4-FFF2-40B4-BE49-F238E27FC236}">
                <a16:creationId xmlns:a16="http://schemas.microsoft.com/office/drawing/2014/main" id="{037A9E39-F1BF-966C-BBD8-ADF2598EA829}"/>
              </a:ext>
            </a:extLst>
          </p:cNvPr>
          <p:cNvSpPr/>
          <p:nvPr/>
        </p:nvSpPr>
        <p:spPr>
          <a:xfrm>
            <a:off x="7180270" y="4584875"/>
            <a:ext cx="822960" cy="457200"/>
          </a:xfrm>
          <a:prstGeom prst="chevron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H</a:t>
            </a:r>
            <a:r>
              <a:rPr lang="en-US" sz="1100" baseline="-25000" dirty="0">
                <a:solidFill>
                  <a:schemeClr val="bg1"/>
                </a:solidFill>
              </a:rPr>
              <a:t>N-1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</a:rPr>
              <a:t>H</a:t>
            </a:r>
            <a:r>
              <a:rPr lang="en-US" sz="1100" baseline="-25000" dirty="0">
                <a:solidFill>
                  <a:schemeClr val="bg1"/>
                </a:solidFill>
              </a:rPr>
              <a:t>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17A0F7A-91BB-6005-981F-06CE8D043EA1}"/>
              </a:ext>
            </a:extLst>
          </p:cNvPr>
          <p:cNvSpPr txBox="1"/>
          <p:nvPr/>
        </p:nvSpPr>
        <p:spPr>
          <a:xfrm>
            <a:off x="7849983" y="2006756"/>
            <a:ext cx="3064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Z</a:t>
            </a:r>
            <a:r>
              <a:rPr lang="en-US" sz="1100" baseline="-250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7E90935-197C-033D-8819-C52BDF8DB71D}"/>
              </a:ext>
            </a:extLst>
          </p:cNvPr>
          <p:cNvSpPr txBox="1"/>
          <p:nvPr/>
        </p:nvSpPr>
        <p:spPr>
          <a:xfrm>
            <a:off x="7859891" y="2562628"/>
            <a:ext cx="3064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Z</a:t>
            </a:r>
            <a:r>
              <a:rPr lang="en-US" sz="1100" baseline="-250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A717DA9-9E99-B7BF-184B-156892770725}"/>
              </a:ext>
            </a:extLst>
          </p:cNvPr>
          <p:cNvSpPr txBox="1"/>
          <p:nvPr/>
        </p:nvSpPr>
        <p:spPr>
          <a:xfrm>
            <a:off x="7859891" y="3167593"/>
            <a:ext cx="3064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Z</a:t>
            </a:r>
            <a:r>
              <a:rPr lang="en-US" sz="1100" baseline="-250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0498E9D-7CB7-6A1F-0023-A897EC4C9B8C}"/>
              </a:ext>
            </a:extLst>
          </p:cNvPr>
          <p:cNvSpPr txBox="1"/>
          <p:nvPr/>
        </p:nvSpPr>
        <p:spPr>
          <a:xfrm>
            <a:off x="7849983" y="3753426"/>
            <a:ext cx="3064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Z</a:t>
            </a:r>
            <a:r>
              <a:rPr lang="en-US" sz="1100" baseline="-25000" dirty="0"/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74D8607-B8BC-CF2D-7DD1-4FA4551F6332}"/>
              </a:ext>
            </a:extLst>
          </p:cNvPr>
          <p:cNvSpPr txBox="1"/>
          <p:nvPr/>
        </p:nvSpPr>
        <p:spPr>
          <a:xfrm>
            <a:off x="7861901" y="4911270"/>
            <a:ext cx="3225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Z</a:t>
            </a:r>
            <a:r>
              <a:rPr lang="en-US" sz="1100" baseline="-25000" dirty="0"/>
              <a:t>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6B34EBA-421D-52D9-758B-941ADF5EDA62}"/>
              </a:ext>
            </a:extLst>
          </p:cNvPr>
          <p:cNvSpPr txBox="1"/>
          <p:nvPr/>
        </p:nvSpPr>
        <p:spPr>
          <a:xfrm rot="5400000">
            <a:off x="7440163" y="405480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68" name="Chevron 67">
            <a:extLst>
              <a:ext uri="{FF2B5EF4-FFF2-40B4-BE49-F238E27FC236}">
                <a16:creationId xmlns:a16="http://schemas.microsoft.com/office/drawing/2014/main" id="{ECE20C7B-DFB3-8646-D5FE-32149B2D7889}"/>
              </a:ext>
            </a:extLst>
          </p:cNvPr>
          <p:cNvSpPr/>
          <p:nvPr/>
        </p:nvSpPr>
        <p:spPr>
          <a:xfrm>
            <a:off x="8965904" y="1754435"/>
            <a:ext cx="822960" cy="457200"/>
          </a:xfrm>
          <a:prstGeom prst="chevron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H’</a:t>
            </a:r>
            <a:r>
              <a:rPr lang="en-US" sz="1100" baseline="-25000" dirty="0">
                <a:solidFill>
                  <a:schemeClr val="bg1"/>
                </a:solidFill>
              </a:rPr>
              <a:t>1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</a:rPr>
              <a:t>H’’</a:t>
            </a:r>
            <a:r>
              <a:rPr lang="en-US" sz="1100" baseline="-250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9" name="Chevron 68">
            <a:extLst>
              <a:ext uri="{FF2B5EF4-FFF2-40B4-BE49-F238E27FC236}">
                <a16:creationId xmlns:a16="http://schemas.microsoft.com/office/drawing/2014/main" id="{E53CE541-F026-CCB4-CE96-2FEB8C7C863C}"/>
              </a:ext>
            </a:extLst>
          </p:cNvPr>
          <p:cNvSpPr/>
          <p:nvPr/>
        </p:nvSpPr>
        <p:spPr>
          <a:xfrm>
            <a:off x="8965904" y="2332640"/>
            <a:ext cx="822960" cy="457200"/>
          </a:xfrm>
          <a:prstGeom prst="chevron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H</a:t>
            </a:r>
            <a:r>
              <a:rPr lang="en-US" sz="1100" baseline="-25000" dirty="0">
                <a:solidFill>
                  <a:schemeClr val="bg1"/>
                </a:solidFill>
              </a:rPr>
              <a:t>2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</a:rPr>
              <a:t>H’</a:t>
            </a:r>
            <a:r>
              <a:rPr lang="en-US" sz="1100" baseline="-250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70" name="Chevron 69">
            <a:extLst>
              <a:ext uri="{FF2B5EF4-FFF2-40B4-BE49-F238E27FC236}">
                <a16:creationId xmlns:a16="http://schemas.microsoft.com/office/drawing/2014/main" id="{3FDC7825-556F-E3F1-D234-FCB8BBA2CA7C}"/>
              </a:ext>
            </a:extLst>
          </p:cNvPr>
          <p:cNvSpPr/>
          <p:nvPr/>
        </p:nvSpPr>
        <p:spPr>
          <a:xfrm>
            <a:off x="8965904" y="2910107"/>
            <a:ext cx="822960" cy="457200"/>
          </a:xfrm>
          <a:prstGeom prst="chevron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H’</a:t>
            </a:r>
            <a:r>
              <a:rPr lang="en-US" sz="1100" baseline="-25000" dirty="0">
                <a:solidFill>
                  <a:schemeClr val="bg1"/>
                </a:solidFill>
              </a:rPr>
              <a:t>1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</a:rPr>
              <a:t>H</a:t>
            </a:r>
            <a:r>
              <a:rPr lang="en-US" sz="1100" baseline="-250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71" name="Chevron 70">
            <a:extLst>
              <a:ext uri="{FF2B5EF4-FFF2-40B4-BE49-F238E27FC236}">
                <a16:creationId xmlns:a16="http://schemas.microsoft.com/office/drawing/2014/main" id="{8F361AEA-52BF-17AB-CA4E-1528D4DD070F}"/>
              </a:ext>
            </a:extLst>
          </p:cNvPr>
          <p:cNvSpPr/>
          <p:nvPr/>
        </p:nvSpPr>
        <p:spPr>
          <a:xfrm>
            <a:off x="8965904" y="3488312"/>
            <a:ext cx="822960" cy="457200"/>
          </a:xfrm>
          <a:prstGeom prst="chevron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H’</a:t>
            </a:r>
            <a:r>
              <a:rPr lang="en-US" sz="1100" baseline="-25000" dirty="0">
                <a:solidFill>
                  <a:schemeClr val="bg1"/>
                </a:solidFill>
              </a:rPr>
              <a:t>7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</a:rPr>
              <a:t>H’</a:t>
            </a:r>
            <a:r>
              <a:rPr lang="en-US" sz="1100" baseline="-250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72" name="Chevron 71">
            <a:extLst>
              <a:ext uri="{FF2B5EF4-FFF2-40B4-BE49-F238E27FC236}">
                <a16:creationId xmlns:a16="http://schemas.microsoft.com/office/drawing/2014/main" id="{523D06AF-523A-0918-FDD7-11095EC379A5}"/>
              </a:ext>
            </a:extLst>
          </p:cNvPr>
          <p:cNvSpPr/>
          <p:nvPr/>
        </p:nvSpPr>
        <p:spPr>
          <a:xfrm>
            <a:off x="8965904" y="4606234"/>
            <a:ext cx="822960" cy="457200"/>
          </a:xfrm>
          <a:prstGeom prst="chevron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H</a:t>
            </a:r>
            <a:r>
              <a:rPr lang="en-US" sz="1100" baseline="-25000" dirty="0">
                <a:solidFill>
                  <a:schemeClr val="bg1"/>
                </a:solidFill>
              </a:rPr>
              <a:t>N-1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</a:rPr>
              <a:t>H</a:t>
            </a:r>
            <a:r>
              <a:rPr lang="en-US" sz="1100" baseline="-25000" dirty="0">
                <a:solidFill>
                  <a:schemeClr val="bg1"/>
                </a:solidFill>
              </a:rPr>
              <a:t>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4895715-AD2A-1832-49C7-D672CD291B6C}"/>
              </a:ext>
            </a:extLst>
          </p:cNvPr>
          <p:cNvSpPr txBox="1"/>
          <p:nvPr/>
        </p:nvSpPr>
        <p:spPr>
          <a:xfrm>
            <a:off x="9635617" y="2028115"/>
            <a:ext cx="3064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Z</a:t>
            </a:r>
            <a:r>
              <a:rPr lang="en-US" sz="1100" baseline="-25000" dirty="0"/>
              <a:t>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EA935ED-5D0D-FF04-E674-E7DE175FBAF0}"/>
              </a:ext>
            </a:extLst>
          </p:cNvPr>
          <p:cNvSpPr txBox="1"/>
          <p:nvPr/>
        </p:nvSpPr>
        <p:spPr>
          <a:xfrm>
            <a:off x="9645525" y="2583987"/>
            <a:ext cx="3064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Z</a:t>
            </a:r>
            <a:r>
              <a:rPr lang="en-US" sz="1100" baseline="-25000" dirty="0"/>
              <a:t>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1082844-01E3-9830-CA02-2AB93094E492}"/>
              </a:ext>
            </a:extLst>
          </p:cNvPr>
          <p:cNvSpPr txBox="1"/>
          <p:nvPr/>
        </p:nvSpPr>
        <p:spPr>
          <a:xfrm>
            <a:off x="9645525" y="3188952"/>
            <a:ext cx="3064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Z</a:t>
            </a:r>
            <a:r>
              <a:rPr lang="en-US" sz="1100" baseline="-250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E566A93-869B-32E9-3488-02EDA2FE5A25}"/>
              </a:ext>
            </a:extLst>
          </p:cNvPr>
          <p:cNvSpPr txBox="1"/>
          <p:nvPr/>
        </p:nvSpPr>
        <p:spPr>
          <a:xfrm>
            <a:off x="9635617" y="3774785"/>
            <a:ext cx="3064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Z</a:t>
            </a:r>
            <a:r>
              <a:rPr lang="en-US" sz="1100" baseline="-25000" dirty="0"/>
              <a:t>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3DE576A-FD64-752C-B892-019D10AD4645}"/>
              </a:ext>
            </a:extLst>
          </p:cNvPr>
          <p:cNvSpPr txBox="1"/>
          <p:nvPr/>
        </p:nvSpPr>
        <p:spPr>
          <a:xfrm>
            <a:off x="9647535" y="4932629"/>
            <a:ext cx="3225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Z</a:t>
            </a:r>
            <a:r>
              <a:rPr lang="en-US" sz="1100" baseline="-25000" dirty="0"/>
              <a:t>N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E8FAFE7-8E6F-1A58-AADA-0B478FE23A44}"/>
              </a:ext>
            </a:extLst>
          </p:cNvPr>
          <p:cNvSpPr txBox="1"/>
          <p:nvPr/>
        </p:nvSpPr>
        <p:spPr>
          <a:xfrm rot="5400000">
            <a:off x="9225797" y="4076167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EA49DF27-222B-D0BE-9BF0-9E50711D7C5F}"/>
              </a:ext>
            </a:extLst>
          </p:cNvPr>
          <p:cNvCxnSpPr>
            <a:endCxn id="23" idx="1"/>
          </p:cNvCxnSpPr>
          <p:nvPr/>
        </p:nvCxnSpPr>
        <p:spPr>
          <a:xfrm flipV="1">
            <a:off x="2341881" y="2039712"/>
            <a:ext cx="1076447" cy="6040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4A004B59-67A3-3668-0590-0C2EBC2AD6CD}"/>
              </a:ext>
            </a:extLst>
          </p:cNvPr>
          <p:cNvCxnSpPr>
            <a:endCxn id="25" idx="1"/>
          </p:cNvCxnSpPr>
          <p:nvPr/>
        </p:nvCxnSpPr>
        <p:spPr>
          <a:xfrm>
            <a:off x="2341881" y="2643729"/>
            <a:ext cx="1076447" cy="1144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951D7207-B8C6-97B6-BDF8-33464876AD60}"/>
              </a:ext>
            </a:extLst>
          </p:cNvPr>
          <p:cNvCxnSpPr>
            <a:endCxn id="27" idx="1"/>
          </p:cNvCxnSpPr>
          <p:nvPr/>
        </p:nvCxnSpPr>
        <p:spPr>
          <a:xfrm>
            <a:off x="2341881" y="2643729"/>
            <a:ext cx="1076447" cy="8445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E13E6CC0-7F25-F1C9-0434-8FD7FA2EA2A5}"/>
              </a:ext>
            </a:extLst>
          </p:cNvPr>
          <p:cNvCxnSpPr>
            <a:stCxn id="9" idx="3"/>
            <a:endCxn id="24" idx="1"/>
          </p:cNvCxnSpPr>
          <p:nvPr/>
        </p:nvCxnSpPr>
        <p:spPr>
          <a:xfrm flipV="1">
            <a:off x="2249283" y="2398924"/>
            <a:ext cx="1169045" cy="13660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3D7654BC-1E56-D428-4291-D81766921403}"/>
              </a:ext>
            </a:extLst>
          </p:cNvPr>
          <p:cNvCxnSpPr>
            <a:stCxn id="9" idx="3"/>
            <a:endCxn id="28" idx="1"/>
          </p:cNvCxnSpPr>
          <p:nvPr/>
        </p:nvCxnSpPr>
        <p:spPr>
          <a:xfrm>
            <a:off x="2249283" y="3765001"/>
            <a:ext cx="1169045" cy="63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1A51157E-CF4B-0C2F-23B4-089B4793ABC3}"/>
              </a:ext>
            </a:extLst>
          </p:cNvPr>
          <p:cNvCxnSpPr>
            <a:stCxn id="8" idx="3"/>
            <a:endCxn id="26" idx="1"/>
          </p:cNvCxnSpPr>
          <p:nvPr/>
        </p:nvCxnSpPr>
        <p:spPr>
          <a:xfrm flipV="1">
            <a:off x="2249283" y="3117348"/>
            <a:ext cx="1169045" cy="78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8F32D48-357C-970C-C6B9-B1A6DD1B2431}"/>
              </a:ext>
            </a:extLst>
          </p:cNvPr>
          <p:cNvCxnSpPr>
            <a:cxnSpLocks/>
            <a:stCxn id="10" idx="3"/>
            <a:endCxn id="30" idx="1"/>
          </p:cNvCxnSpPr>
          <p:nvPr/>
        </p:nvCxnSpPr>
        <p:spPr>
          <a:xfrm>
            <a:off x="2249283" y="4537560"/>
            <a:ext cx="1169045" cy="3298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FBE94EB8-E75E-CDD3-1BAC-B828D44DB799}"/>
              </a:ext>
            </a:extLst>
          </p:cNvPr>
          <p:cNvCxnSpPr>
            <a:stCxn id="8" idx="3"/>
            <a:endCxn id="29" idx="1"/>
          </p:cNvCxnSpPr>
          <p:nvPr/>
        </p:nvCxnSpPr>
        <p:spPr>
          <a:xfrm>
            <a:off x="2249283" y="3195499"/>
            <a:ext cx="1169045" cy="9886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urved Connector 96">
            <a:extLst>
              <a:ext uri="{FF2B5EF4-FFF2-40B4-BE49-F238E27FC236}">
                <a16:creationId xmlns:a16="http://schemas.microsoft.com/office/drawing/2014/main" id="{5371E901-7E53-1EF6-1A37-7691CCC64EC8}"/>
              </a:ext>
            </a:extLst>
          </p:cNvPr>
          <p:cNvCxnSpPr>
            <a:cxnSpLocks/>
          </p:cNvCxnSpPr>
          <p:nvPr/>
        </p:nvCxnSpPr>
        <p:spPr>
          <a:xfrm flipV="1">
            <a:off x="4047186" y="1901985"/>
            <a:ext cx="1466514" cy="78036"/>
          </a:xfrm>
          <a:prstGeom prst="curvedConnector3">
            <a:avLst>
              <a:gd name="adj1" fmla="val 2035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urved Connector 98">
            <a:extLst>
              <a:ext uri="{FF2B5EF4-FFF2-40B4-BE49-F238E27FC236}">
                <a16:creationId xmlns:a16="http://schemas.microsoft.com/office/drawing/2014/main" id="{6DB11D73-9E57-A50E-7855-6B6D1E4CA561}"/>
              </a:ext>
            </a:extLst>
          </p:cNvPr>
          <p:cNvCxnSpPr>
            <a:cxnSpLocks/>
          </p:cNvCxnSpPr>
          <p:nvPr/>
        </p:nvCxnSpPr>
        <p:spPr>
          <a:xfrm flipV="1">
            <a:off x="4047186" y="2032790"/>
            <a:ext cx="1466514" cy="78036"/>
          </a:xfrm>
          <a:prstGeom prst="curvedConnector3">
            <a:avLst>
              <a:gd name="adj1" fmla="val 6839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BB38135A-3A77-E170-68E5-493B80DDFA9F}"/>
              </a:ext>
            </a:extLst>
          </p:cNvPr>
          <p:cNvCxnSpPr>
            <a:stCxn id="23" idx="3"/>
          </p:cNvCxnSpPr>
          <p:nvPr/>
        </p:nvCxnSpPr>
        <p:spPr>
          <a:xfrm>
            <a:off x="4095447" y="2039712"/>
            <a:ext cx="1418253" cy="10263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713C2E1E-8357-A29C-6195-8BE68235821C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4095447" y="2398924"/>
            <a:ext cx="1237914" cy="480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1B6A3AC6-7FE4-D2AE-D87A-5DC1DE9302D5}"/>
              </a:ext>
            </a:extLst>
          </p:cNvPr>
          <p:cNvCxnSpPr/>
          <p:nvPr/>
        </p:nvCxnSpPr>
        <p:spPr>
          <a:xfrm flipV="1">
            <a:off x="4095447" y="2625027"/>
            <a:ext cx="1237914" cy="8632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1095BB53-37E0-26C0-161E-B38DFC6C3E27}"/>
              </a:ext>
            </a:extLst>
          </p:cNvPr>
          <p:cNvCxnSpPr>
            <a:stCxn id="28" idx="3"/>
          </p:cNvCxnSpPr>
          <p:nvPr/>
        </p:nvCxnSpPr>
        <p:spPr>
          <a:xfrm flipV="1">
            <a:off x="4095447" y="3189160"/>
            <a:ext cx="1418253" cy="6395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00A139DB-94DE-F133-AAEA-0A3CA7455D15}"/>
              </a:ext>
            </a:extLst>
          </p:cNvPr>
          <p:cNvCxnSpPr>
            <a:stCxn id="28" idx="3"/>
          </p:cNvCxnSpPr>
          <p:nvPr/>
        </p:nvCxnSpPr>
        <p:spPr>
          <a:xfrm>
            <a:off x="4095447" y="3828662"/>
            <a:ext cx="12379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796CB09E-8C8E-7BC9-59E2-79719D9038E3}"/>
              </a:ext>
            </a:extLst>
          </p:cNvPr>
          <p:cNvCxnSpPr>
            <a:stCxn id="29" idx="3"/>
          </p:cNvCxnSpPr>
          <p:nvPr/>
        </p:nvCxnSpPr>
        <p:spPr>
          <a:xfrm flipV="1">
            <a:off x="4095447" y="3621421"/>
            <a:ext cx="1237914" cy="562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D6D60163-0916-7C16-7B5B-56B0BA9CC65B}"/>
              </a:ext>
            </a:extLst>
          </p:cNvPr>
          <p:cNvCxnSpPr>
            <a:stCxn id="30" idx="3"/>
          </p:cNvCxnSpPr>
          <p:nvPr/>
        </p:nvCxnSpPr>
        <p:spPr>
          <a:xfrm>
            <a:off x="4095447" y="4867439"/>
            <a:ext cx="1237914" cy="438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96BD026A-73F0-A7C7-6895-D15ACD1759C4}"/>
              </a:ext>
            </a:extLst>
          </p:cNvPr>
          <p:cNvSpPr txBox="1"/>
          <p:nvPr/>
        </p:nvSpPr>
        <p:spPr>
          <a:xfrm>
            <a:off x="10271221" y="836842"/>
            <a:ext cx="14605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2N Haploid individuals</a:t>
            </a:r>
          </a:p>
        </p:txBody>
      </p:sp>
      <p:cxnSp>
        <p:nvCxnSpPr>
          <p:cNvPr id="121" name="Elbow Connector 120">
            <a:extLst>
              <a:ext uri="{FF2B5EF4-FFF2-40B4-BE49-F238E27FC236}">
                <a16:creationId xmlns:a16="http://schemas.microsoft.com/office/drawing/2014/main" id="{E8F34C2C-6E03-66DE-5CCF-35724637EA08}"/>
              </a:ext>
            </a:extLst>
          </p:cNvPr>
          <p:cNvCxnSpPr>
            <a:stCxn id="119" idx="0"/>
            <a:endCxn id="22" idx="0"/>
          </p:cNvCxnSpPr>
          <p:nvPr/>
        </p:nvCxnSpPr>
        <p:spPr>
          <a:xfrm rot="16200000" flipH="1" flipV="1">
            <a:off x="7343148" y="-2815974"/>
            <a:ext cx="5525" cy="7311156"/>
          </a:xfrm>
          <a:prstGeom prst="bentConnector3">
            <a:avLst>
              <a:gd name="adj1" fmla="val -413755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Chevron 121">
            <a:extLst>
              <a:ext uri="{FF2B5EF4-FFF2-40B4-BE49-F238E27FC236}">
                <a16:creationId xmlns:a16="http://schemas.microsoft.com/office/drawing/2014/main" id="{FC87C82F-8935-0B4F-ED08-1C443B97DC16}"/>
              </a:ext>
            </a:extLst>
          </p:cNvPr>
          <p:cNvSpPr/>
          <p:nvPr/>
        </p:nvSpPr>
        <p:spPr>
          <a:xfrm>
            <a:off x="10596375" y="1774541"/>
            <a:ext cx="810228" cy="266218"/>
          </a:xfrm>
          <a:prstGeom prst="chevron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H</a:t>
            </a:r>
            <a:r>
              <a:rPr lang="en-US" sz="1600" baseline="-250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23" name="Chevron 122">
            <a:extLst>
              <a:ext uri="{FF2B5EF4-FFF2-40B4-BE49-F238E27FC236}">
                <a16:creationId xmlns:a16="http://schemas.microsoft.com/office/drawing/2014/main" id="{BF7ADC16-84A6-8509-4B4F-43FD8A814812}"/>
              </a:ext>
            </a:extLst>
          </p:cNvPr>
          <p:cNvSpPr/>
          <p:nvPr/>
        </p:nvSpPr>
        <p:spPr>
          <a:xfrm>
            <a:off x="10596375" y="2133753"/>
            <a:ext cx="810228" cy="266218"/>
          </a:xfrm>
          <a:prstGeom prst="chevron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H</a:t>
            </a:r>
            <a:r>
              <a:rPr lang="en-US" sz="1600" baseline="-250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24" name="Chevron 123">
            <a:extLst>
              <a:ext uri="{FF2B5EF4-FFF2-40B4-BE49-F238E27FC236}">
                <a16:creationId xmlns:a16="http://schemas.microsoft.com/office/drawing/2014/main" id="{E7E7AE35-8E11-8EEB-2955-6AB7A7466540}"/>
              </a:ext>
            </a:extLst>
          </p:cNvPr>
          <p:cNvSpPr/>
          <p:nvPr/>
        </p:nvSpPr>
        <p:spPr>
          <a:xfrm>
            <a:off x="10596375" y="2492965"/>
            <a:ext cx="810228" cy="266218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H</a:t>
            </a:r>
            <a:r>
              <a:rPr lang="en-US" sz="1600" baseline="-250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25" name="Chevron 124">
            <a:extLst>
              <a:ext uri="{FF2B5EF4-FFF2-40B4-BE49-F238E27FC236}">
                <a16:creationId xmlns:a16="http://schemas.microsoft.com/office/drawing/2014/main" id="{B475B997-3D0D-D0D8-9C47-27F6EAB0ECF9}"/>
              </a:ext>
            </a:extLst>
          </p:cNvPr>
          <p:cNvSpPr/>
          <p:nvPr/>
        </p:nvSpPr>
        <p:spPr>
          <a:xfrm>
            <a:off x="10596375" y="2852177"/>
            <a:ext cx="810228" cy="266218"/>
          </a:xfrm>
          <a:prstGeom prst="chevron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H</a:t>
            </a:r>
            <a:r>
              <a:rPr lang="en-US" sz="1600" baseline="-250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26" name="Chevron 125">
            <a:extLst>
              <a:ext uri="{FF2B5EF4-FFF2-40B4-BE49-F238E27FC236}">
                <a16:creationId xmlns:a16="http://schemas.microsoft.com/office/drawing/2014/main" id="{3E780B13-9B74-CA64-142C-F3E5CB470A21}"/>
              </a:ext>
            </a:extLst>
          </p:cNvPr>
          <p:cNvSpPr/>
          <p:nvPr/>
        </p:nvSpPr>
        <p:spPr>
          <a:xfrm>
            <a:off x="10596375" y="3223141"/>
            <a:ext cx="810228" cy="266218"/>
          </a:xfrm>
          <a:prstGeom prst="chevron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H</a:t>
            </a:r>
            <a:r>
              <a:rPr lang="en-US" sz="1600" baseline="-250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27" name="Chevron 126">
            <a:extLst>
              <a:ext uri="{FF2B5EF4-FFF2-40B4-BE49-F238E27FC236}">
                <a16:creationId xmlns:a16="http://schemas.microsoft.com/office/drawing/2014/main" id="{18A8093F-2E40-46F7-7545-CB80431986DB}"/>
              </a:ext>
            </a:extLst>
          </p:cNvPr>
          <p:cNvSpPr/>
          <p:nvPr/>
        </p:nvSpPr>
        <p:spPr>
          <a:xfrm>
            <a:off x="10596375" y="3563491"/>
            <a:ext cx="810228" cy="266218"/>
          </a:xfrm>
          <a:prstGeom prst="chevron">
            <a:avLst/>
          </a:prstGeom>
          <a:solidFill>
            <a:schemeClr val="accent4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H</a:t>
            </a:r>
            <a:r>
              <a:rPr lang="en-US" sz="1600" baseline="-250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28" name="Chevron 127">
            <a:extLst>
              <a:ext uri="{FF2B5EF4-FFF2-40B4-BE49-F238E27FC236}">
                <a16:creationId xmlns:a16="http://schemas.microsoft.com/office/drawing/2014/main" id="{FCBC36A4-8F9E-0F55-BED5-1F1CC6CF1011}"/>
              </a:ext>
            </a:extLst>
          </p:cNvPr>
          <p:cNvSpPr/>
          <p:nvPr/>
        </p:nvSpPr>
        <p:spPr>
          <a:xfrm>
            <a:off x="10596375" y="3919015"/>
            <a:ext cx="810228" cy="266218"/>
          </a:xfrm>
          <a:prstGeom prst="chevron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H</a:t>
            </a:r>
            <a:r>
              <a:rPr lang="en-US" sz="1600" baseline="-250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29" name="Chevron 128">
            <a:extLst>
              <a:ext uri="{FF2B5EF4-FFF2-40B4-BE49-F238E27FC236}">
                <a16:creationId xmlns:a16="http://schemas.microsoft.com/office/drawing/2014/main" id="{991E814C-D498-F7EE-1FD3-9E5070BBB87C}"/>
              </a:ext>
            </a:extLst>
          </p:cNvPr>
          <p:cNvSpPr/>
          <p:nvPr/>
        </p:nvSpPr>
        <p:spPr>
          <a:xfrm>
            <a:off x="10596375" y="4602268"/>
            <a:ext cx="810228" cy="266218"/>
          </a:xfrm>
          <a:prstGeom prst="chevro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H</a:t>
            </a:r>
            <a:r>
              <a:rPr lang="en-US" sz="1600" baseline="-25000" dirty="0">
                <a:solidFill>
                  <a:schemeClr val="bg1"/>
                </a:solidFill>
              </a:rPr>
              <a:t>2N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B4438398-6C2A-A67E-020E-8B4E95D5F4EA}"/>
              </a:ext>
            </a:extLst>
          </p:cNvPr>
          <p:cNvSpPr txBox="1"/>
          <p:nvPr/>
        </p:nvSpPr>
        <p:spPr>
          <a:xfrm rot="5400000">
            <a:off x="10818284" y="420505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31" name="Right Arrow 130">
            <a:extLst>
              <a:ext uri="{FF2B5EF4-FFF2-40B4-BE49-F238E27FC236}">
                <a16:creationId xmlns:a16="http://schemas.microsoft.com/office/drawing/2014/main" id="{60143F58-63B8-E349-EB2C-497271516594}"/>
              </a:ext>
            </a:extLst>
          </p:cNvPr>
          <p:cNvSpPr/>
          <p:nvPr/>
        </p:nvSpPr>
        <p:spPr>
          <a:xfrm>
            <a:off x="6579011" y="1892877"/>
            <a:ext cx="179882" cy="28906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ight Arrow 131">
            <a:extLst>
              <a:ext uri="{FF2B5EF4-FFF2-40B4-BE49-F238E27FC236}">
                <a16:creationId xmlns:a16="http://schemas.microsoft.com/office/drawing/2014/main" id="{90AFBEE2-62AD-479E-7704-9268DA0D1F9D}"/>
              </a:ext>
            </a:extLst>
          </p:cNvPr>
          <p:cNvSpPr/>
          <p:nvPr/>
        </p:nvSpPr>
        <p:spPr>
          <a:xfrm>
            <a:off x="8487844" y="1830986"/>
            <a:ext cx="179882" cy="28906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ight Arrow 132">
            <a:extLst>
              <a:ext uri="{FF2B5EF4-FFF2-40B4-BE49-F238E27FC236}">
                <a16:creationId xmlns:a16="http://schemas.microsoft.com/office/drawing/2014/main" id="{F0E4AD6A-29A0-C947-8462-253132CF5E74}"/>
              </a:ext>
            </a:extLst>
          </p:cNvPr>
          <p:cNvSpPr/>
          <p:nvPr/>
        </p:nvSpPr>
        <p:spPr>
          <a:xfrm>
            <a:off x="10251603" y="1805150"/>
            <a:ext cx="179882" cy="28906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E8E24218-EFB6-DE58-3B1B-7A4CF65AC596}"/>
              </a:ext>
            </a:extLst>
          </p:cNvPr>
          <p:cNvSpPr txBox="1"/>
          <p:nvPr/>
        </p:nvSpPr>
        <p:spPr>
          <a:xfrm>
            <a:off x="6156321" y="5432980"/>
            <a:ext cx="11542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Meiotic mutation</a:t>
            </a:r>
          </a:p>
          <a:p>
            <a:pPr algn="ctr"/>
            <a:r>
              <a:rPr lang="en-US" sz="1400" dirty="0"/>
              <a:t>𝜇</a:t>
            </a:r>
          </a:p>
        </p:txBody>
      </p:sp>
      <p:sp>
        <p:nvSpPr>
          <p:cNvPr id="135" name="Up Arrow 134">
            <a:extLst>
              <a:ext uri="{FF2B5EF4-FFF2-40B4-BE49-F238E27FC236}">
                <a16:creationId xmlns:a16="http://schemas.microsoft.com/office/drawing/2014/main" id="{783EC9D4-B71F-D493-CA89-53A97B1454ED}"/>
              </a:ext>
            </a:extLst>
          </p:cNvPr>
          <p:cNvSpPr/>
          <p:nvPr/>
        </p:nvSpPr>
        <p:spPr>
          <a:xfrm>
            <a:off x="6373956" y="5194239"/>
            <a:ext cx="659547" cy="17423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665C2C7B-A5D6-DA0E-62D5-B73F9DF1F750}"/>
              </a:ext>
            </a:extLst>
          </p:cNvPr>
          <p:cNvSpPr txBox="1"/>
          <p:nvPr/>
        </p:nvSpPr>
        <p:spPr>
          <a:xfrm>
            <a:off x="7888806" y="5416379"/>
            <a:ext cx="14442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Recombination</a:t>
            </a:r>
          </a:p>
          <a:p>
            <a:pPr algn="ctr"/>
            <a:r>
              <a:rPr lang="en-US" sz="1400" dirty="0"/>
              <a:t>𝜌</a:t>
            </a:r>
          </a:p>
        </p:txBody>
      </p:sp>
      <p:sp>
        <p:nvSpPr>
          <p:cNvPr id="137" name="Up Arrow 136">
            <a:extLst>
              <a:ext uri="{FF2B5EF4-FFF2-40B4-BE49-F238E27FC236}">
                <a16:creationId xmlns:a16="http://schemas.microsoft.com/office/drawing/2014/main" id="{2D548F02-D356-9ABF-7B8A-9A2C9AEB59EB}"/>
              </a:ext>
            </a:extLst>
          </p:cNvPr>
          <p:cNvSpPr/>
          <p:nvPr/>
        </p:nvSpPr>
        <p:spPr>
          <a:xfrm>
            <a:off x="8232157" y="5172880"/>
            <a:ext cx="659547" cy="17423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3422A913-E174-5565-866A-8F88571A3C62}"/>
              </a:ext>
            </a:extLst>
          </p:cNvPr>
          <p:cNvSpPr txBox="1"/>
          <p:nvPr/>
        </p:nvSpPr>
        <p:spPr>
          <a:xfrm>
            <a:off x="4179119" y="5461414"/>
            <a:ext cx="11542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* Mitotic mutation</a:t>
            </a:r>
          </a:p>
          <a:p>
            <a:pPr algn="ctr"/>
            <a:r>
              <a:rPr lang="en-US" sz="1400" dirty="0"/>
              <a:t>𝜇</a:t>
            </a:r>
          </a:p>
        </p:txBody>
      </p:sp>
      <p:sp>
        <p:nvSpPr>
          <p:cNvPr id="140" name="Up Arrow 139">
            <a:extLst>
              <a:ext uri="{FF2B5EF4-FFF2-40B4-BE49-F238E27FC236}">
                <a16:creationId xmlns:a16="http://schemas.microsoft.com/office/drawing/2014/main" id="{B321EF62-0F65-473D-D246-C6C29BD6335D}"/>
              </a:ext>
            </a:extLst>
          </p:cNvPr>
          <p:cNvSpPr/>
          <p:nvPr/>
        </p:nvSpPr>
        <p:spPr>
          <a:xfrm>
            <a:off x="4396754" y="5222673"/>
            <a:ext cx="659547" cy="174231"/>
          </a:xfrm>
          <a:prstGeom prst="upArrow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C86194CB-D02D-B828-C6F1-73648F19F23D}"/>
              </a:ext>
            </a:extLst>
          </p:cNvPr>
          <p:cNvSpPr/>
          <p:nvPr/>
        </p:nvSpPr>
        <p:spPr>
          <a:xfrm>
            <a:off x="10570343" y="1455825"/>
            <a:ext cx="940132" cy="4798905"/>
          </a:xfrm>
          <a:prstGeom prst="rect">
            <a:avLst/>
          </a:prstGeom>
          <a:solidFill>
            <a:schemeClr val="accent1">
              <a:alpha val="3536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3D3D495D-55E8-43C2-DA39-50737B329338}"/>
              </a:ext>
            </a:extLst>
          </p:cNvPr>
          <p:cNvSpPr/>
          <p:nvPr/>
        </p:nvSpPr>
        <p:spPr>
          <a:xfrm>
            <a:off x="5235817" y="1439066"/>
            <a:ext cx="5287279" cy="4798905"/>
          </a:xfrm>
          <a:prstGeom prst="rect">
            <a:avLst/>
          </a:prstGeom>
          <a:solidFill>
            <a:schemeClr val="accent2">
              <a:lumMod val="60000"/>
              <a:lumOff val="40000"/>
              <a:alpha val="17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Chevron 144">
            <a:extLst>
              <a:ext uri="{FF2B5EF4-FFF2-40B4-BE49-F238E27FC236}">
                <a16:creationId xmlns:a16="http://schemas.microsoft.com/office/drawing/2014/main" id="{C5CF0A2B-A373-D119-7E40-1A5366E3FDB2}"/>
              </a:ext>
            </a:extLst>
          </p:cNvPr>
          <p:cNvSpPr/>
          <p:nvPr/>
        </p:nvSpPr>
        <p:spPr>
          <a:xfrm>
            <a:off x="11568917" y="2578889"/>
            <a:ext cx="566138" cy="261610"/>
          </a:xfrm>
          <a:prstGeom prst="chevron">
            <a:avLst>
              <a:gd name="adj" fmla="val 29028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H</a:t>
            </a:r>
            <a:r>
              <a:rPr lang="en-US" sz="800" baseline="-250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46" name="Chevron 145">
            <a:extLst>
              <a:ext uri="{FF2B5EF4-FFF2-40B4-BE49-F238E27FC236}">
                <a16:creationId xmlns:a16="http://schemas.microsoft.com/office/drawing/2014/main" id="{3A33EEF7-3D65-5C77-45CC-35700616D387}"/>
              </a:ext>
            </a:extLst>
          </p:cNvPr>
          <p:cNvSpPr/>
          <p:nvPr/>
        </p:nvSpPr>
        <p:spPr>
          <a:xfrm>
            <a:off x="11568917" y="2949853"/>
            <a:ext cx="566138" cy="261610"/>
          </a:xfrm>
          <a:prstGeom prst="chevron">
            <a:avLst>
              <a:gd name="adj" fmla="val 25533"/>
            </a:avLst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H</a:t>
            </a:r>
            <a:r>
              <a:rPr lang="en-US" sz="800" baseline="-25000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47" name="Chevron 146">
            <a:extLst>
              <a:ext uri="{FF2B5EF4-FFF2-40B4-BE49-F238E27FC236}">
                <a16:creationId xmlns:a16="http://schemas.microsoft.com/office/drawing/2014/main" id="{E765427D-5E34-F7F4-5B03-009B33C8D9D2}"/>
              </a:ext>
            </a:extLst>
          </p:cNvPr>
          <p:cNvSpPr/>
          <p:nvPr/>
        </p:nvSpPr>
        <p:spPr>
          <a:xfrm>
            <a:off x="11568917" y="3290203"/>
            <a:ext cx="566138" cy="261610"/>
          </a:xfrm>
          <a:prstGeom prst="chevron">
            <a:avLst>
              <a:gd name="adj" fmla="val 22038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bg1"/>
                </a:solidFill>
              </a:rPr>
              <a:t>H</a:t>
            </a:r>
            <a:r>
              <a:rPr lang="en-US" sz="700" baseline="-25000" dirty="0">
                <a:solidFill>
                  <a:schemeClr val="bg1"/>
                </a:solidFill>
              </a:rPr>
              <a:t>23</a:t>
            </a:r>
          </a:p>
        </p:txBody>
      </p:sp>
      <p:sp>
        <p:nvSpPr>
          <p:cNvPr id="148" name="Chevron 147">
            <a:extLst>
              <a:ext uri="{FF2B5EF4-FFF2-40B4-BE49-F238E27FC236}">
                <a16:creationId xmlns:a16="http://schemas.microsoft.com/office/drawing/2014/main" id="{F3410A35-A78F-141D-A9E1-555B740CFFC4}"/>
              </a:ext>
            </a:extLst>
          </p:cNvPr>
          <p:cNvSpPr/>
          <p:nvPr/>
        </p:nvSpPr>
        <p:spPr>
          <a:xfrm>
            <a:off x="11562395" y="3906841"/>
            <a:ext cx="566138" cy="261610"/>
          </a:xfrm>
          <a:prstGeom prst="chevron">
            <a:avLst>
              <a:gd name="adj" fmla="val 25533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bg1"/>
                </a:solidFill>
              </a:rPr>
              <a:t>H</a:t>
            </a:r>
            <a:r>
              <a:rPr lang="en-US" sz="800" baseline="-25000" dirty="0" err="1">
                <a:solidFill>
                  <a:schemeClr val="bg1"/>
                </a:solidFill>
              </a:rPr>
              <a:t>n</a:t>
            </a:r>
            <a:endParaRPr lang="en-US" sz="800" baseline="-25000" dirty="0">
              <a:solidFill>
                <a:schemeClr val="bg1"/>
              </a:solidFill>
            </a:endParaRPr>
          </a:p>
        </p:txBody>
      </p:sp>
      <p:sp>
        <p:nvSpPr>
          <p:cNvPr id="150" name="Left Brace 149">
            <a:extLst>
              <a:ext uri="{FF2B5EF4-FFF2-40B4-BE49-F238E27FC236}">
                <a16:creationId xmlns:a16="http://schemas.microsoft.com/office/drawing/2014/main" id="{BDCEE842-8052-A6A6-BBCA-71BFA8D6B4C1}"/>
              </a:ext>
            </a:extLst>
          </p:cNvPr>
          <p:cNvSpPr/>
          <p:nvPr/>
        </p:nvSpPr>
        <p:spPr>
          <a:xfrm rot="5400000">
            <a:off x="7188420" y="-3772041"/>
            <a:ext cx="190371" cy="851763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82575D97-7DFE-8496-CF6E-B1CBB01942D5}"/>
              </a:ext>
            </a:extLst>
          </p:cNvPr>
          <p:cNvSpPr txBox="1"/>
          <p:nvPr/>
        </p:nvSpPr>
        <p:spPr>
          <a:xfrm rot="5400000">
            <a:off x="11681040" y="353224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58E2B3BA-386F-383D-2BE7-A5D858321C74}"/>
              </a:ext>
            </a:extLst>
          </p:cNvPr>
          <p:cNvSpPr txBox="1"/>
          <p:nvPr/>
        </p:nvSpPr>
        <p:spPr>
          <a:xfrm>
            <a:off x="11555678" y="2256366"/>
            <a:ext cx="5031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/>
              <a:t>Pick n Samples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9BF23BC0-1939-E3FE-D728-6AF46AD13C66}"/>
              </a:ext>
            </a:extLst>
          </p:cNvPr>
          <p:cNvSpPr/>
          <p:nvPr/>
        </p:nvSpPr>
        <p:spPr>
          <a:xfrm>
            <a:off x="283725" y="4895513"/>
            <a:ext cx="1906185" cy="372678"/>
          </a:xfrm>
          <a:prstGeom prst="rect">
            <a:avLst/>
          </a:prstGeom>
          <a:solidFill>
            <a:schemeClr val="accent1">
              <a:alpha val="3536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Haploid stage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269372BE-0FFF-2455-97D6-B4AF556074B3}"/>
              </a:ext>
            </a:extLst>
          </p:cNvPr>
          <p:cNvSpPr/>
          <p:nvPr/>
        </p:nvSpPr>
        <p:spPr>
          <a:xfrm>
            <a:off x="290352" y="5404001"/>
            <a:ext cx="1899559" cy="393540"/>
          </a:xfrm>
          <a:prstGeom prst="rect">
            <a:avLst/>
          </a:prstGeom>
          <a:solidFill>
            <a:schemeClr val="accent2">
              <a:lumMod val="60000"/>
              <a:lumOff val="40000"/>
              <a:alpha val="17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Diploid stage</a:t>
            </a:r>
          </a:p>
        </p:txBody>
      </p:sp>
    </p:spTree>
    <p:extLst>
      <p:ext uri="{BB962C8B-B14F-4D97-AF65-F5344CB8AC3E}">
        <p14:creationId xmlns:p14="http://schemas.microsoft.com/office/powerpoint/2010/main" val="3820836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DE708B3-A80F-38C3-57EB-F8990C02439D}"/>
              </a:ext>
            </a:extLst>
          </p:cNvPr>
          <p:cNvCxnSpPr>
            <a:cxnSpLocks/>
          </p:cNvCxnSpPr>
          <p:nvPr/>
        </p:nvCxnSpPr>
        <p:spPr>
          <a:xfrm>
            <a:off x="6061023" y="989351"/>
            <a:ext cx="0" cy="52615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0613162-8D58-F507-8E6D-768571CCFAB4}"/>
              </a:ext>
            </a:extLst>
          </p:cNvPr>
          <p:cNvSpPr txBox="1"/>
          <p:nvPr/>
        </p:nvSpPr>
        <p:spPr>
          <a:xfrm>
            <a:off x="2233534" y="374754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Mutation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B1D2BB-59AF-BB61-971B-EB44B55EF630}"/>
              </a:ext>
            </a:extLst>
          </p:cNvPr>
          <p:cNvSpPr txBox="1"/>
          <p:nvPr/>
        </p:nvSpPr>
        <p:spPr>
          <a:xfrm>
            <a:off x="8381998" y="374754"/>
            <a:ext cx="1707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Recombination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68DE5A6-800A-02CE-877A-A6DBC7C25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955" y="1597815"/>
            <a:ext cx="5366284" cy="4462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D20D70A-20A3-87CB-66B3-A7E78ABE81BE}"/>
              </a:ext>
            </a:extLst>
          </p:cNvPr>
          <p:cNvSpPr txBox="1"/>
          <p:nvPr/>
        </p:nvSpPr>
        <p:spPr>
          <a:xfrm>
            <a:off x="267675" y="1228483"/>
            <a:ext cx="1965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each position: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B7EE422-B065-87B0-23B3-AFFA30B6D8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955" y="2879043"/>
            <a:ext cx="5366277" cy="446236"/>
          </a:xfrm>
          <a:prstGeom prst="rect">
            <a:avLst/>
          </a:prstGeom>
        </p:spPr>
      </p:pic>
      <p:sp>
        <p:nvSpPr>
          <p:cNvPr id="13" name="Down Arrow 12">
            <a:extLst>
              <a:ext uri="{FF2B5EF4-FFF2-40B4-BE49-F238E27FC236}">
                <a16:creationId xmlns:a16="http://schemas.microsoft.com/office/drawing/2014/main" id="{EE2C3DBF-03C3-3E6F-564E-294164DD14AE}"/>
              </a:ext>
            </a:extLst>
          </p:cNvPr>
          <p:cNvSpPr/>
          <p:nvPr/>
        </p:nvSpPr>
        <p:spPr>
          <a:xfrm>
            <a:off x="2408714" y="2379101"/>
            <a:ext cx="899410" cy="1648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A79459F1-E351-DFDA-70B0-F5337CD4C94D}"/>
              </a:ext>
            </a:extLst>
          </p:cNvPr>
          <p:cNvSpPr/>
          <p:nvPr/>
        </p:nvSpPr>
        <p:spPr>
          <a:xfrm rot="16200000">
            <a:off x="2076643" y="2574053"/>
            <a:ext cx="231329" cy="194122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694E53-765F-2EE6-5B15-1B171B104DD3}"/>
              </a:ext>
            </a:extLst>
          </p:cNvPr>
          <p:cNvSpPr txBox="1"/>
          <p:nvPr/>
        </p:nvSpPr>
        <p:spPr>
          <a:xfrm>
            <a:off x="1502180" y="3764049"/>
            <a:ext cx="14627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word exist</a:t>
            </a:r>
          </a:p>
          <a:p>
            <a:r>
              <a:rPr lang="en-US" dirty="0"/>
              <a:t>Keep change</a:t>
            </a:r>
          </a:p>
        </p:txBody>
      </p:sp>
      <p:sp>
        <p:nvSpPr>
          <p:cNvPr id="17" name="Down Arrow 16">
            <a:extLst>
              <a:ext uri="{FF2B5EF4-FFF2-40B4-BE49-F238E27FC236}">
                <a16:creationId xmlns:a16="http://schemas.microsoft.com/office/drawing/2014/main" id="{9A80DC05-B28A-1094-C4B0-7A0D4C5D0C9E}"/>
              </a:ext>
            </a:extLst>
          </p:cNvPr>
          <p:cNvSpPr/>
          <p:nvPr/>
        </p:nvSpPr>
        <p:spPr>
          <a:xfrm>
            <a:off x="2515183" y="4660104"/>
            <a:ext cx="899410" cy="1648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806B5EC-990D-E7A3-4706-5D7634323F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955" y="5183281"/>
            <a:ext cx="5366276" cy="44623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6A9FCDC-BF87-C4F0-6C21-533FAF877582}"/>
              </a:ext>
            </a:extLst>
          </p:cNvPr>
          <p:cNvSpPr txBox="1"/>
          <p:nvPr/>
        </p:nvSpPr>
        <p:spPr>
          <a:xfrm>
            <a:off x="7225259" y="1678898"/>
            <a:ext cx="2457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My sentences variant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00A057-B52C-8E50-32B2-63B31A740368}"/>
              </a:ext>
            </a:extLst>
          </p:cNvPr>
          <p:cNvSpPr txBox="1"/>
          <p:nvPr/>
        </p:nvSpPr>
        <p:spPr>
          <a:xfrm>
            <a:off x="7225259" y="2543993"/>
            <a:ext cx="3329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This is another sentence variant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456B4E4-9F14-37A1-4FC7-CD69458FA8F5}"/>
              </a:ext>
            </a:extLst>
          </p:cNvPr>
          <p:cNvCxnSpPr/>
          <p:nvPr/>
        </p:nvCxnSpPr>
        <p:spPr>
          <a:xfrm>
            <a:off x="7615003" y="1678898"/>
            <a:ext cx="0" cy="365154"/>
          </a:xfrm>
          <a:prstGeom prst="line">
            <a:avLst/>
          </a:prstGeom>
          <a:ln w="349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DF3F0A0-00D5-6CBD-1A28-C195A31F74DA}"/>
              </a:ext>
            </a:extLst>
          </p:cNvPr>
          <p:cNvCxnSpPr/>
          <p:nvPr/>
        </p:nvCxnSpPr>
        <p:spPr>
          <a:xfrm>
            <a:off x="7962275" y="2548171"/>
            <a:ext cx="0" cy="365154"/>
          </a:xfrm>
          <a:prstGeom prst="line">
            <a:avLst/>
          </a:prstGeom>
          <a:ln w="349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D99AB8F-F8CC-998C-7768-913B9B9F28F3}"/>
              </a:ext>
            </a:extLst>
          </p:cNvPr>
          <p:cNvCxnSpPr/>
          <p:nvPr/>
        </p:nvCxnSpPr>
        <p:spPr>
          <a:xfrm>
            <a:off x="7629993" y="2044052"/>
            <a:ext cx="344774" cy="499941"/>
          </a:xfrm>
          <a:prstGeom prst="line">
            <a:avLst/>
          </a:prstGeom>
          <a:ln w="349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Down Arrow 25">
            <a:extLst>
              <a:ext uri="{FF2B5EF4-FFF2-40B4-BE49-F238E27FC236}">
                <a16:creationId xmlns:a16="http://schemas.microsoft.com/office/drawing/2014/main" id="{15417365-1C40-FF85-74EE-F5267A4136B7}"/>
              </a:ext>
            </a:extLst>
          </p:cNvPr>
          <p:cNvSpPr/>
          <p:nvPr/>
        </p:nvSpPr>
        <p:spPr>
          <a:xfrm>
            <a:off x="8407276" y="3192551"/>
            <a:ext cx="899410" cy="1648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A22709A-983F-6FE9-DAB4-72FD6E03C642}"/>
              </a:ext>
            </a:extLst>
          </p:cNvPr>
          <p:cNvSpPr txBox="1"/>
          <p:nvPr/>
        </p:nvSpPr>
        <p:spPr>
          <a:xfrm>
            <a:off x="7629993" y="3657600"/>
            <a:ext cx="2999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My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another sentence variant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B60B5F-9ADB-B16D-5A2F-89585F1E4DC1}"/>
              </a:ext>
            </a:extLst>
          </p:cNvPr>
          <p:cNvSpPr txBox="1"/>
          <p:nvPr/>
        </p:nvSpPr>
        <p:spPr>
          <a:xfrm>
            <a:off x="7641351" y="4225714"/>
            <a:ext cx="2660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This is </a:t>
            </a:r>
            <a:r>
              <a:rPr lang="en-US" dirty="0" err="1"/>
              <a:t>senteces</a:t>
            </a:r>
            <a:r>
              <a:rPr lang="en-US" dirty="0"/>
              <a:t> variant 1</a:t>
            </a:r>
          </a:p>
        </p:txBody>
      </p:sp>
    </p:spTree>
    <p:extLst>
      <p:ext uri="{BB962C8B-B14F-4D97-AF65-F5344CB8AC3E}">
        <p14:creationId xmlns:p14="http://schemas.microsoft.com/office/powerpoint/2010/main" val="2200373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4229</TotalTime>
  <Words>612</Words>
  <Application>Microsoft Macintosh PowerPoint</Application>
  <PresentationFormat>Widescreen</PresentationFormat>
  <Paragraphs>131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Paulo Cesar Manrique Valverde</dc:creator>
  <cp:lastModifiedBy>Paulo Cesar Manrique Valverde</cp:lastModifiedBy>
  <cp:revision>2</cp:revision>
  <dcterms:created xsi:type="dcterms:W3CDTF">2025-07-10T16:29:26Z</dcterms:created>
  <dcterms:modified xsi:type="dcterms:W3CDTF">2025-11-17T15:24:24Z</dcterms:modified>
</cp:coreProperties>
</file>