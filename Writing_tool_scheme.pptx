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67660"/>
  </p:normalViewPr>
  <p:slideViewPr>
    <p:cSldViewPr snapToGrid="0">
      <p:cViewPr>
        <p:scale>
          <a:sx n="85" d="100"/>
          <a:sy n="85" d="100"/>
        </p:scale>
        <p:origin x="192"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696801-3F02-644D-9AA7-A71CBF05A8FA}" type="datetimeFigureOut">
              <a:rPr lang="en-US" smtClean="0"/>
              <a:t>7/10/25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9C3CCD-85DC-FF4B-B178-8B54A6B9E0D7}" type="slidenum">
              <a:rPr lang="en-US" smtClean="0"/>
              <a:t>‹#›</a:t>
            </a:fld>
            <a:endParaRPr lang="en-US"/>
          </a:p>
        </p:txBody>
      </p:sp>
    </p:spTree>
    <p:extLst>
      <p:ext uri="{BB962C8B-B14F-4D97-AF65-F5344CB8AC3E}">
        <p14:creationId xmlns:p14="http://schemas.microsoft.com/office/powerpoint/2010/main" val="5079869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begins with the user's query, which can be a phrase, sentence, or paragraph. Then the query is paraphrased v times using Llama. This is where the population simulation begins. The model assumes two stages: a Haploid stage and a Diploid stage. In the first simulation or generation, N haploid individuals are chosen from the v variants with uniform sampling with replacement. Then each of these is randomly chosen to form zygotes and initiate the diploid stage. Once the zygotes are formed, each haplotype may be subject to meiotic mutation with a mutation rate 𝜇, and then recombination of these two haplotypes may occur with a recombination rate 𝜌. At the end of the diploid stage, 2N haploid copies are obtained, of which N will be randomly selected to form part of the next generation. This process will be repeated t times. At the end of the t generations, the 2N haploid copies are stored, and the user can choose n samples randomly. This random selection of samples can be repeated indefinitely by the user without needing to repeat the simulation.</a:t>
            </a:r>
          </a:p>
        </p:txBody>
      </p:sp>
      <p:sp>
        <p:nvSpPr>
          <p:cNvPr id="4" name="Slide Number Placeholder 3"/>
          <p:cNvSpPr>
            <a:spLocks noGrp="1"/>
          </p:cNvSpPr>
          <p:nvPr>
            <p:ph type="sldNum" sz="quarter" idx="5"/>
          </p:nvPr>
        </p:nvSpPr>
        <p:spPr/>
        <p:txBody>
          <a:bodyPr/>
          <a:lstStyle/>
          <a:p>
            <a:fld id="{BA9C3CCD-85DC-FF4B-B178-8B54A6B9E0D7}" type="slidenum">
              <a:rPr lang="en-US" smtClean="0"/>
              <a:t>2</a:t>
            </a:fld>
            <a:endParaRPr lang="en-US"/>
          </a:p>
        </p:txBody>
      </p:sp>
    </p:spTree>
    <p:extLst>
      <p:ext uri="{BB962C8B-B14F-4D97-AF65-F5344CB8AC3E}">
        <p14:creationId xmlns:p14="http://schemas.microsoft.com/office/powerpoint/2010/main" val="4078529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A092B-0682-20DF-5804-5B7C7FD39A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A4D496B-2B3D-298C-F713-A580E0411D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0BB220-7911-995B-53BD-C749DDC38E20}"/>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FAA22777-AC70-C3A8-CFC8-544ADC0451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5B010D-91D9-083A-EBA1-59370672DE65}"/>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217279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B2CAE-0244-AD9F-8E15-24B2F2F802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3B1E6E-03D9-99FC-2103-8C5B12E8AF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3386B7-9B85-6157-0DC8-E9634B3912A3}"/>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F083D86A-25ED-D4D2-549C-924396C2E7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CB2E3E-8956-78F3-A63B-0C82AD48394D}"/>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3319878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A5E72-6DBC-5632-7CA3-F91C15635BA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E6C2DC-50E8-BD70-9F95-D9E59ADF474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71059D-D934-9526-1A08-09ECE279CE75}"/>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16F5108F-ACDB-5611-523A-E2482A9B13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40E69-E919-5162-9D84-41E4F72FE822}"/>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2366529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A8A39-80E8-C686-E774-D5F2C111AEB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4856F9-4FA4-BEBE-4BFF-417B99E3A3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94D9497-80A4-7196-F2C3-26BF56B731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1A1E12-D13C-6E2A-A470-827BF28B1368}"/>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6" name="Footer Placeholder 5">
            <a:extLst>
              <a:ext uri="{FF2B5EF4-FFF2-40B4-BE49-F238E27FC236}">
                <a16:creationId xmlns:a16="http://schemas.microsoft.com/office/drawing/2014/main" id="{1A9213C0-7171-BB7A-32B7-C572710F19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73ED5D-6F64-D930-3A77-4A8358EB4CD5}"/>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3677595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82DD2-2941-BCE3-28C6-4E7C94F55F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1746AF-3E79-7483-CCF3-F7D3C1941F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DA1425-4288-D0BD-BA11-34D42298A7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CE350A-39C5-1802-D9CC-5866033ECF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628A153-F30B-0CBF-C8F3-7440712382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A513A2F-F4D0-EF94-4504-24D5AA667E58}"/>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8" name="Footer Placeholder 7">
            <a:extLst>
              <a:ext uri="{FF2B5EF4-FFF2-40B4-BE49-F238E27FC236}">
                <a16:creationId xmlns:a16="http://schemas.microsoft.com/office/drawing/2014/main" id="{A20A680E-0B2A-5369-7399-5E8C7AFFC3D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A54F93-C93B-5DEF-E8D4-B76BAA736737}"/>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131391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598FC-DB64-2C88-C43E-A81317CC58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165268-6863-866F-ABF3-2A92045E526D}"/>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4" name="Footer Placeholder 3">
            <a:extLst>
              <a:ext uri="{FF2B5EF4-FFF2-40B4-BE49-F238E27FC236}">
                <a16:creationId xmlns:a16="http://schemas.microsoft.com/office/drawing/2014/main" id="{1E1B90B0-CC0A-03EA-A639-10E4A852E04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E08944A-022C-7D4F-6722-283AE5128329}"/>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42168091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8B4E79-4681-C6BC-F10E-3AF51F67B2CA}"/>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3" name="Footer Placeholder 2">
            <a:extLst>
              <a:ext uri="{FF2B5EF4-FFF2-40B4-BE49-F238E27FC236}">
                <a16:creationId xmlns:a16="http://schemas.microsoft.com/office/drawing/2014/main" id="{59204A17-BFCC-7AEC-2F5F-D462E6DDDFA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3056789-B502-6751-B1CE-A16076135633}"/>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3389982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5E12A-96A5-407D-784F-4CA5F50072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55D75D6-46E9-3343-84CC-4528FF513AF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382CAB-1F94-59D1-49D7-6A99BFE443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46DEEB4-61BB-8C9C-9E58-F6D9F9E2A075}"/>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6" name="Footer Placeholder 5">
            <a:extLst>
              <a:ext uri="{FF2B5EF4-FFF2-40B4-BE49-F238E27FC236}">
                <a16:creationId xmlns:a16="http://schemas.microsoft.com/office/drawing/2014/main" id="{4C09AFFD-E49F-74AE-39F9-18CF1F2770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6B7E23-F86D-801A-5D1D-C433DD87FFE1}"/>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4190165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7E19F-602B-71FA-3344-4BB2ABDC6D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D18BA65-798A-33B3-8B5D-9A74867BC0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9CF10F-30E3-EE81-6C4D-501102D33E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7135B3-7A67-BFF9-E83D-CB72194B259E}"/>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6" name="Footer Placeholder 5">
            <a:extLst>
              <a:ext uri="{FF2B5EF4-FFF2-40B4-BE49-F238E27FC236}">
                <a16:creationId xmlns:a16="http://schemas.microsoft.com/office/drawing/2014/main" id="{67248670-9B87-FA74-CFBF-07D68C5EDC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DB3674-CD6F-DC7B-65A2-A3E37068FF14}"/>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1848213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CC927-B822-4824-8A35-538D979F9A8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E0AA18-AA2B-7F04-0376-81912584B4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1FF5F1-7DAE-16F0-C0A0-0530C7A6FF4C}"/>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E0608391-17AB-4219-B461-43BFE386D4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012039-5815-3282-80EA-ED1809DFE416}"/>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3820912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DBE619-7F2C-AA2B-DEDE-114DE256A12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3FA95D5-50EF-6C7F-7BD3-336C74EC49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8154AEB-D8D9-D468-5A22-0ACEFE32B34C}"/>
              </a:ext>
            </a:extLst>
          </p:cNvPr>
          <p:cNvSpPr>
            <a:spLocks noGrp="1"/>
          </p:cNvSpPr>
          <p:nvPr>
            <p:ph type="dt" sz="half" idx="10"/>
          </p:nvPr>
        </p:nvSpPr>
        <p:spPr/>
        <p:txBody>
          <a:body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85BC83D3-AF2D-1E86-9438-1D05B7110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2DF7F9-23C3-C003-2F26-32BAED6D4BC1}"/>
              </a:ext>
            </a:extLst>
          </p:cNvPr>
          <p:cNvSpPr>
            <a:spLocks noGrp="1"/>
          </p:cNvSpPr>
          <p:nvPr>
            <p:ph type="sldNum" sz="quarter" idx="12"/>
          </p:nvPr>
        </p:nvSpPr>
        <p:spPr/>
        <p:txBody>
          <a:bodyPr/>
          <a:lstStyle/>
          <a:p>
            <a:fld id="{643A6F86-517A-B24D-B402-43A402CC3FC7}" type="slidenum">
              <a:rPr lang="en-US" smtClean="0"/>
              <a:t>‹#›</a:t>
            </a:fld>
            <a:endParaRPr lang="en-US"/>
          </a:p>
        </p:txBody>
      </p:sp>
    </p:spTree>
    <p:extLst>
      <p:ext uri="{BB962C8B-B14F-4D97-AF65-F5344CB8AC3E}">
        <p14:creationId xmlns:p14="http://schemas.microsoft.com/office/powerpoint/2010/main" val="3862109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3E6947-50CA-5A7C-6A56-B4BC2B1B031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B6A6FD9-C8FE-3DA0-7C29-5210B0490D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C3A8AE-F672-9838-FF30-01C53B2E27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87CB466-08D1-5241-B572-E4EBC26890D4}" type="datetimeFigureOut">
              <a:rPr lang="en-US" smtClean="0"/>
              <a:t>7/10/25</a:t>
            </a:fld>
            <a:endParaRPr lang="en-US"/>
          </a:p>
        </p:txBody>
      </p:sp>
      <p:sp>
        <p:nvSpPr>
          <p:cNvPr id="5" name="Footer Placeholder 4">
            <a:extLst>
              <a:ext uri="{FF2B5EF4-FFF2-40B4-BE49-F238E27FC236}">
                <a16:creationId xmlns:a16="http://schemas.microsoft.com/office/drawing/2014/main" id="{3A8F2454-1499-ADEE-44A0-577457A9B0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E765FE2-E103-FB3E-3011-730F9B48B1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43A6F86-517A-B24D-B402-43A402CC3FC7}" type="slidenum">
              <a:rPr lang="en-US" smtClean="0"/>
              <a:t>‹#›</a:t>
            </a:fld>
            <a:endParaRPr lang="en-US"/>
          </a:p>
        </p:txBody>
      </p:sp>
    </p:spTree>
    <p:extLst>
      <p:ext uri="{BB962C8B-B14F-4D97-AF65-F5344CB8AC3E}">
        <p14:creationId xmlns:p14="http://schemas.microsoft.com/office/powerpoint/2010/main" val="32774825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3B11E3-BAA9-2B49-6348-DE8FF089327C}"/>
              </a:ext>
            </a:extLst>
          </p:cNvPr>
          <p:cNvSpPr txBox="1"/>
          <p:nvPr/>
        </p:nvSpPr>
        <p:spPr>
          <a:xfrm>
            <a:off x="300942" y="254643"/>
            <a:ext cx="1321900" cy="369332"/>
          </a:xfrm>
          <a:prstGeom prst="rect">
            <a:avLst/>
          </a:prstGeom>
          <a:noFill/>
        </p:spPr>
        <p:txBody>
          <a:bodyPr wrap="none" rtlCol="0">
            <a:spAutoFit/>
          </a:bodyPr>
          <a:lstStyle/>
          <a:p>
            <a:r>
              <a:rPr lang="en-US" dirty="0"/>
              <a:t>Writing tool</a:t>
            </a:r>
          </a:p>
        </p:txBody>
      </p:sp>
      <p:sp>
        <p:nvSpPr>
          <p:cNvPr id="5" name="TextBox 4">
            <a:extLst>
              <a:ext uri="{FF2B5EF4-FFF2-40B4-BE49-F238E27FC236}">
                <a16:creationId xmlns:a16="http://schemas.microsoft.com/office/drawing/2014/main" id="{4F5A8156-9AAC-AFAB-58BF-9DADFC37322E}"/>
              </a:ext>
            </a:extLst>
          </p:cNvPr>
          <p:cNvSpPr txBox="1"/>
          <p:nvPr/>
        </p:nvSpPr>
        <p:spPr>
          <a:xfrm>
            <a:off x="509286" y="1250066"/>
            <a:ext cx="10845479" cy="2585323"/>
          </a:xfrm>
          <a:prstGeom prst="rect">
            <a:avLst/>
          </a:prstGeom>
          <a:noFill/>
        </p:spPr>
        <p:txBody>
          <a:bodyPr wrap="square" rtlCol="0">
            <a:spAutoFit/>
          </a:bodyPr>
          <a:lstStyle/>
          <a:p>
            <a:r>
              <a:rPr lang="en-US" dirty="0"/>
              <a:t>Required parameters:</a:t>
            </a:r>
          </a:p>
          <a:p>
            <a:pPr marL="285750" indent="-285750">
              <a:buFont typeface="Arial" panose="020B0604020202020204" pitchFamily="34" charset="0"/>
              <a:buChar char="•"/>
            </a:pPr>
            <a:r>
              <a:rPr lang="en-US" dirty="0"/>
              <a:t>Query (Q): Sentence or paragraph used as input.</a:t>
            </a:r>
          </a:p>
          <a:p>
            <a:pPr marL="285750" indent="-285750">
              <a:buFont typeface="Arial" panose="020B0604020202020204" pitchFamily="34" charset="0"/>
              <a:buChar char="•"/>
            </a:pPr>
            <a:r>
              <a:rPr lang="en-US" dirty="0"/>
              <a:t>Sample size (n): Desired number of outputs.</a:t>
            </a:r>
          </a:p>
          <a:p>
            <a:pPr marL="285750" indent="-285750">
              <a:buFont typeface="Arial" panose="020B0604020202020204" pitchFamily="34" charset="0"/>
              <a:buChar char="•"/>
            </a:pPr>
            <a:r>
              <a:rPr lang="en-US" dirty="0"/>
              <a:t>Variants (v): Number of times the query is going to be paraphrased before simulation starts.</a:t>
            </a:r>
          </a:p>
          <a:p>
            <a:pPr marL="285750" indent="-285750">
              <a:buFont typeface="Arial" panose="020B0604020202020204" pitchFamily="34" charset="0"/>
              <a:buChar char="•"/>
            </a:pPr>
            <a:r>
              <a:rPr lang="en-US" dirty="0"/>
              <a:t>Population size (N): Number of individuals (Sentences or paragraphs) in the simulated population.</a:t>
            </a:r>
          </a:p>
          <a:p>
            <a:pPr marL="285750" indent="-285750">
              <a:buFont typeface="Arial" panose="020B0604020202020204" pitchFamily="34" charset="0"/>
              <a:buChar char="•"/>
            </a:pPr>
            <a:r>
              <a:rPr lang="en-US" dirty="0"/>
              <a:t>Generations (t): Number of generations the simulation will run.</a:t>
            </a:r>
          </a:p>
          <a:p>
            <a:pPr marL="285750" indent="-285750">
              <a:buFont typeface="Arial" panose="020B0604020202020204" pitchFamily="34" charset="0"/>
              <a:buChar char="•"/>
            </a:pPr>
            <a:r>
              <a:rPr lang="en-US" dirty="0"/>
              <a:t>Mutation rate (𝜇): per site (character or letter), per individual rate at which mutation might occur.</a:t>
            </a:r>
          </a:p>
          <a:p>
            <a:pPr marL="285750" indent="-285750">
              <a:buFont typeface="Arial" panose="020B0604020202020204" pitchFamily="34" charset="0"/>
              <a:buChar char="•"/>
            </a:pPr>
            <a:r>
              <a:rPr lang="en-US" dirty="0"/>
              <a:t>Recombination rate (𝜌): Rate at which haplotypes (sentences within the diploid stage of the individual) might recombine (switching of words between haplotypes).</a:t>
            </a:r>
          </a:p>
        </p:txBody>
      </p:sp>
    </p:spTree>
    <p:extLst>
      <p:ext uri="{BB962C8B-B14F-4D97-AF65-F5344CB8AC3E}">
        <p14:creationId xmlns:p14="http://schemas.microsoft.com/office/powerpoint/2010/main" val="35795967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Rectangle 141">
            <a:extLst>
              <a:ext uri="{FF2B5EF4-FFF2-40B4-BE49-F238E27FC236}">
                <a16:creationId xmlns:a16="http://schemas.microsoft.com/office/drawing/2014/main" id="{DB24FFE9-AC24-42C6-A028-0BA56D9B1D73}"/>
              </a:ext>
            </a:extLst>
          </p:cNvPr>
          <p:cNvSpPr/>
          <p:nvPr/>
        </p:nvSpPr>
        <p:spPr>
          <a:xfrm>
            <a:off x="3024789" y="1437006"/>
            <a:ext cx="2155325" cy="4798905"/>
          </a:xfrm>
          <a:prstGeom prst="rect">
            <a:avLst/>
          </a:prstGeom>
          <a:solidFill>
            <a:schemeClr val="accent1">
              <a:alpha val="3536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entagon 3">
            <a:extLst>
              <a:ext uri="{FF2B5EF4-FFF2-40B4-BE49-F238E27FC236}">
                <a16:creationId xmlns:a16="http://schemas.microsoft.com/office/drawing/2014/main" id="{38D1D47A-D72E-00C3-B4D9-ACB6C0E0A65B}"/>
              </a:ext>
            </a:extLst>
          </p:cNvPr>
          <p:cNvSpPr/>
          <p:nvPr/>
        </p:nvSpPr>
        <p:spPr>
          <a:xfrm>
            <a:off x="304737" y="3371462"/>
            <a:ext cx="474562" cy="381964"/>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Q</a:t>
            </a:r>
          </a:p>
        </p:txBody>
      </p:sp>
      <p:sp>
        <p:nvSpPr>
          <p:cNvPr id="5" name="TextBox 4">
            <a:extLst>
              <a:ext uri="{FF2B5EF4-FFF2-40B4-BE49-F238E27FC236}">
                <a16:creationId xmlns:a16="http://schemas.microsoft.com/office/drawing/2014/main" id="{30031746-FB1A-0AC5-AA5B-A68B937E0C60}"/>
              </a:ext>
            </a:extLst>
          </p:cNvPr>
          <p:cNvSpPr txBox="1"/>
          <p:nvPr/>
        </p:nvSpPr>
        <p:spPr>
          <a:xfrm>
            <a:off x="63467" y="3907187"/>
            <a:ext cx="785280" cy="276999"/>
          </a:xfrm>
          <a:prstGeom prst="rect">
            <a:avLst/>
          </a:prstGeom>
          <a:noFill/>
        </p:spPr>
        <p:txBody>
          <a:bodyPr wrap="none" rtlCol="0">
            <a:spAutoFit/>
          </a:bodyPr>
          <a:lstStyle/>
          <a:p>
            <a:r>
              <a:rPr lang="en-US" sz="1200" dirty="0"/>
              <a:t>My query</a:t>
            </a:r>
          </a:p>
        </p:txBody>
      </p:sp>
      <p:sp>
        <p:nvSpPr>
          <p:cNvPr id="6" name="TextBox 5">
            <a:extLst>
              <a:ext uri="{FF2B5EF4-FFF2-40B4-BE49-F238E27FC236}">
                <a16:creationId xmlns:a16="http://schemas.microsoft.com/office/drawing/2014/main" id="{FEBAB7F4-74BB-22EF-7169-1FD13782F6F3}"/>
              </a:ext>
            </a:extLst>
          </p:cNvPr>
          <p:cNvSpPr txBox="1"/>
          <p:nvPr/>
        </p:nvSpPr>
        <p:spPr>
          <a:xfrm>
            <a:off x="1346458" y="1808880"/>
            <a:ext cx="995423" cy="461665"/>
          </a:xfrm>
          <a:prstGeom prst="rect">
            <a:avLst/>
          </a:prstGeom>
          <a:noFill/>
        </p:spPr>
        <p:txBody>
          <a:bodyPr wrap="square" rtlCol="0">
            <a:spAutoFit/>
          </a:bodyPr>
          <a:lstStyle/>
          <a:p>
            <a:pPr algn="ctr"/>
            <a:r>
              <a:rPr lang="en-US" sz="1200" dirty="0"/>
              <a:t>Paraphrase with Llama</a:t>
            </a:r>
          </a:p>
        </p:txBody>
      </p:sp>
      <p:sp>
        <p:nvSpPr>
          <p:cNvPr id="7" name="Chevron 6">
            <a:extLst>
              <a:ext uri="{FF2B5EF4-FFF2-40B4-BE49-F238E27FC236}">
                <a16:creationId xmlns:a16="http://schemas.microsoft.com/office/drawing/2014/main" id="{DE59D58E-A650-A9F6-9C48-ED4685223845}"/>
              </a:ext>
            </a:extLst>
          </p:cNvPr>
          <p:cNvSpPr/>
          <p:nvPr/>
        </p:nvSpPr>
        <p:spPr>
          <a:xfrm>
            <a:off x="1439055" y="2446959"/>
            <a:ext cx="810228" cy="393540"/>
          </a:xfrm>
          <a:prstGeom prst="chevron">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V</a:t>
            </a:r>
            <a:r>
              <a:rPr lang="en-US" sz="1600" baseline="-25000" dirty="0">
                <a:solidFill>
                  <a:schemeClr val="bg1"/>
                </a:solidFill>
              </a:rPr>
              <a:t>1</a:t>
            </a:r>
          </a:p>
        </p:txBody>
      </p:sp>
      <p:sp>
        <p:nvSpPr>
          <p:cNvPr id="8" name="Chevron 7">
            <a:extLst>
              <a:ext uri="{FF2B5EF4-FFF2-40B4-BE49-F238E27FC236}">
                <a16:creationId xmlns:a16="http://schemas.microsoft.com/office/drawing/2014/main" id="{6B35D8BF-148D-FBF2-B74E-D8DD18286DA5}"/>
              </a:ext>
            </a:extLst>
          </p:cNvPr>
          <p:cNvSpPr/>
          <p:nvPr/>
        </p:nvSpPr>
        <p:spPr>
          <a:xfrm>
            <a:off x="1439055" y="2998729"/>
            <a:ext cx="810228" cy="393540"/>
          </a:xfrm>
          <a:prstGeom prst="chevron">
            <a:avLst/>
          </a:prstGeom>
          <a:solidFill>
            <a:schemeClr val="accent2">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V</a:t>
            </a:r>
            <a:r>
              <a:rPr lang="en-US" sz="1600" baseline="-25000" dirty="0">
                <a:solidFill>
                  <a:schemeClr val="bg1"/>
                </a:solidFill>
              </a:rPr>
              <a:t>2</a:t>
            </a:r>
          </a:p>
        </p:txBody>
      </p:sp>
      <p:sp>
        <p:nvSpPr>
          <p:cNvPr id="9" name="Chevron 8">
            <a:extLst>
              <a:ext uri="{FF2B5EF4-FFF2-40B4-BE49-F238E27FC236}">
                <a16:creationId xmlns:a16="http://schemas.microsoft.com/office/drawing/2014/main" id="{CFAF0877-DAE2-4ADB-9472-7250B3384618}"/>
              </a:ext>
            </a:extLst>
          </p:cNvPr>
          <p:cNvSpPr/>
          <p:nvPr/>
        </p:nvSpPr>
        <p:spPr>
          <a:xfrm>
            <a:off x="1439055" y="3568231"/>
            <a:ext cx="810228" cy="393540"/>
          </a:xfrm>
          <a:prstGeom prst="chevron">
            <a:avLst/>
          </a:prstGeom>
          <a:solidFill>
            <a:schemeClr val="accent3">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V</a:t>
            </a:r>
            <a:r>
              <a:rPr lang="en-US" sz="1600" baseline="-25000" dirty="0">
                <a:solidFill>
                  <a:schemeClr val="bg1"/>
                </a:solidFill>
              </a:rPr>
              <a:t>3</a:t>
            </a:r>
          </a:p>
        </p:txBody>
      </p:sp>
      <p:sp>
        <p:nvSpPr>
          <p:cNvPr id="10" name="Chevron 9">
            <a:extLst>
              <a:ext uri="{FF2B5EF4-FFF2-40B4-BE49-F238E27FC236}">
                <a16:creationId xmlns:a16="http://schemas.microsoft.com/office/drawing/2014/main" id="{F8D9A794-20E4-2A78-C8F8-1958FAB30983}"/>
              </a:ext>
            </a:extLst>
          </p:cNvPr>
          <p:cNvSpPr/>
          <p:nvPr/>
        </p:nvSpPr>
        <p:spPr>
          <a:xfrm>
            <a:off x="1439055" y="4340790"/>
            <a:ext cx="810228" cy="393540"/>
          </a:xfrm>
          <a:prstGeom prst="chevron">
            <a:avLst/>
          </a:prstGeom>
          <a:solidFill>
            <a:schemeClr val="accent6">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bg1"/>
                </a:solidFill>
              </a:rPr>
              <a:t>V</a:t>
            </a:r>
            <a:r>
              <a:rPr lang="en-US" sz="1600" baseline="-25000" dirty="0" err="1">
                <a:solidFill>
                  <a:schemeClr val="bg1"/>
                </a:solidFill>
              </a:rPr>
              <a:t>v</a:t>
            </a:r>
            <a:endParaRPr lang="en-US" sz="1600" baseline="-25000" dirty="0">
              <a:solidFill>
                <a:schemeClr val="bg1"/>
              </a:solidFill>
            </a:endParaRPr>
          </a:p>
        </p:txBody>
      </p:sp>
      <p:cxnSp>
        <p:nvCxnSpPr>
          <p:cNvPr id="12" name="Straight Arrow Connector 11">
            <a:extLst>
              <a:ext uri="{FF2B5EF4-FFF2-40B4-BE49-F238E27FC236}">
                <a16:creationId xmlns:a16="http://schemas.microsoft.com/office/drawing/2014/main" id="{7B1BB767-6EC8-EE9A-2868-99E93C4EFE42}"/>
              </a:ext>
            </a:extLst>
          </p:cNvPr>
          <p:cNvCxnSpPr>
            <a:stCxn id="4" idx="3"/>
            <a:endCxn id="7" idx="1"/>
          </p:cNvCxnSpPr>
          <p:nvPr/>
        </p:nvCxnSpPr>
        <p:spPr>
          <a:xfrm flipV="1">
            <a:off x="779299" y="2643729"/>
            <a:ext cx="856526" cy="9187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EB27BFC-9BB7-E710-6E60-52DF1BF8B2C4}"/>
              </a:ext>
            </a:extLst>
          </p:cNvPr>
          <p:cNvCxnSpPr>
            <a:stCxn id="4" idx="3"/>
            <a:endCxn id="8" idx="1"/>
          </p:cNvCxnSpPr>
          <p:nvPr/>
        </p:nvCxnSpPr>
        <p:spPr>
          <a:xfrm flipV="1">
            <a:off x="779299" y="3195499"/>
            <a:ext cx="856526" cy="3669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E3779F09-005B-1DAE-C7B2-A95632E5CF74}"/>
              </a:ext>
            </a:extLst>
          </p:cNvPr>
          <p:cNvCxnSpPr>
            <a:stCxn id="4" idx="3"/>
            <a:endCxn id="9" idx="1"/>
          </p:cNvCxnSpPr>
          <p:nvPr/>
        </p:nvCxnSpPr>
        <p:spPr>
          <a:xfrm>
            <a:off x="779299" y="3562444"/>
            <a:ext cx="856526" cy="2025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7A0A1474-E626-CD47-B22B-7812634756A3}"/>
              </a:ext>
            </a:extLst>
          </p:cNvPr>
          <p:cNvCxnSpPr>
            <a:stCxn id="4" idx="3"/>
            <a:endCxn id="10" idx="1"/>
          </p:cNvCxnSpPr>
          <p:nvPr/>
        </p:nvCxnSpPr>
        <p:spPr>
          <a:xfrm>
            <a:off x="779299" y="3562444"/>
            <a:ext cx="856526" cy="9751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D26AEFD-A597-F612-31D9-99A95FAB6C7E}"/>
              </a:ext>
            </a:extLst>
          </p:cNvPr>
          <p:cNvSpPr txBox="1"/>
          <p:nvPr/>
        </p:nvSpPr>
        <p:spPr>
          <a:xfrm rot="5400000">
            <a:off x="1653251" y="3999520"/>
            <a:ext cx="381836" cy="369332"/>
          </a:xfrm>
          <a:prstGeom prst="rect">
            <a:avLst/>
          </a:prstGeom>
          <a:noFill/>
        </p:spPr>
        <p:txBody>
          <a:bodyPr wrap="none" rtlCol="0">
            <a:spAutoFit/>
          </a:bodyPr>
          <a:lstStyle/>
          <a:p>
            <a:r>
              <a:rPr lang="en-US" dirty="0"/>
              <a:t>…</a:t>
            </a:r>
          </a:p>
        </p:txBody>
      </p:sp>
      <p:sp>
        <p:nvSpPr>
          <p:cNvPr id="21" name="TextBox 20">
            <a:extLst>
              <a:ext uri="{FF2B5EF4-FFF2-40B4-BE49-F238E27FC236}">
                <a16:creationId xmlns:a16="http://schemas.microsoft.com/office/drawing/2014/main" id="{07A071E3-9C4F-15A2-89CB-AE6C3F016CB9}"/>
              </a:ext>
            </a:extLst>
          </p:cNvPr>
          <p:cNvSpPr txBox="1"/>
          <p:nvPr/>
        </p:nvSpPr>
        <p:spPr>
          <a:xfrm>
            <a:off x="6745000" y="42147"/>
            <a:ext cx="1258230" cy="369332"/>
          </a:xfrm>
          <a:prstGeom prst="rect">
            <a:avLst/>
          </a:prstGeom>
          <a:noFill/>
        </p:spPr>
        <p:txBody>
          <a:bodyPr wrap="none" rtlCol="0">
            <a:spAutoFit/>
          </a:bodyPr>
          <a:lstStyle/>
          <a:p>
            <a:r>
              <a:rPr lang="en-US" dirty="0"/>
              <a:t>Simulation</a:t>
            </a:r>
          </a:p>
        </p:txBody>
      </p:sp>
      <p:sp>
        <p:nvSpPr>
          <p:cNvPr id="22" name="TextBox 21">
            <a:extLst>
              <a:ext uri="{FF2B5EF4-FFF2-40B4-BE49-F238E27FC236}">
                <a16:creationId xmlns:a16="http://schemas.microsoft.com/office/drawing/2014/main" id="{C44C1FE1-2E43-C00C-99FC-2CB6438640B1}"/>
              </a:ext>
            </a:extLst>
          </p:cNvPr>
          <p:cNvSpPr txBox="1"/>
          <p:nvPr/>
        </p:nvSpPr>
        <p:spPr>
          <a:xfrm>
            <a:off x="3024789" y="842367"/>
            <a:ext cx="1331088" cy="613458"/>
          </a:xfrm>
          <a:prstGeom prst="rect">
            <a:avLst/>
          </a:prstGeom>
          <a:noFill/>
        </p:spPr>
        <p:txBody>
          <a:bodyPr wrap="square" rtlCol="0">
            <a:spAutoFit/>
          </a:bodyPr>
          <a:lstStyle/>
          <a:p>
            <a:pPr algn="ctr"/>
            <a:r>
              <a:rPr lang="en-US" sz="1100" dirty="0"/>
              <a:t>Pick N Haploid individuals at generation t</a:t>
            </a:r>
          </a:p>
        </p:txBody>
      </p:sp>
      <p:sp>
        <p:nvSpPr>
          <p:cNvPr id="23" name="Chevron 22">
            <a:extLst>
              <a:ext uri="{FF2B5EF4-FFF2-40B4-BE49-F238E27FC236}">
                <a16:creationId xmlns:a16="http://schemas.microsoft.com/office/drawing/2014/main" id="{C064B904-8ACA-D9C8-1638-7C3C4AAA6FB7}"/>
              </a:ext>
            </a:extLst>
          </p:cNvPr>
          <p:cNvSpPr/>
          <p:nvPr/>
        </p:nvSpPr>
        <p:spPr>
          <a:xfrm>
            <a:off x="3285219" y="1906603"/>
            <a:ext cx="810228" cy="266218"/>
          </a:xfrm>
          <a:prstGeom prst="chevron">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1</a:t>
            </a:r>
          </a:p>
        </p:txBody>
      </p:sp>
      <p:sp>
        <p:nvSpPr>
          <p:cNvPr id="24" name="Chevron 23">
            <a:extLst>
              <a:ext uri="{FF2B5EF4-FFF2-40B4-BE49-F238E27FC236}">
                <a16:creationId xmlns:a16="http://schemas.microsoft.com/office/drawing/2014/main" id="{FB1EF684-6A51-C840-20B9-98B95C8DFEAE}"/>
              </a:ext>
            </a:extLst>
          </p:cNvPr>
          <p:cNvSpPr/>
          <p:nvPr/>
        </p:nvSpPr>
        <p:spPr>
          <a:xfrm>
            <a:off x="3285219" y="2265815"/>
            <a:ext cx="810228" cy="266218"/>
          </a:xfrm>
          <a:prstGeom prst="chevron">
            <a:avLst/>
          </a:prstGeom>
          <a:solidFill>
            <a:schemeClr val="accent3">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2</a:t>
            </a:r>
          </a:p>
        </p:txBody>
      </p:sp>
      <p:sp>
        <p:nvSpPr>
          <p:cNvPr id="25" name="Chevron 24">
            <a:extLst>
              <a:ext uri="{FF2B5EF4-FFF2-40B4-BE49-F238E27FC236}">
                <a16:creationId xmlns:a16="http://schemas.microsoft.com/office/drawing/2014/main" id="{64780BE5-957A-90C9-95C0-5192EFE0A8FE}"/>
              </a:ext>
            </a:extLst>
          </p:cNvPr>
          <p:cNvSpPr/>
          <p:nvPr/>
        </p:nvSpPr>
        <p:spPr>
          <a:xfrm>
            <a:off x="3285219" y="2625027"/>
            <a:ext cx="810228" cy="266218"/>
          </a:xfrm>
          <a:prstGeom prst="chevron">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3</a:t>
            </a:r>
          </a:p>
        </p:txBody>
      </p:sp>
      <p:sp>
        <p:nvSpPr>
          <p:cNvPr id="26" name="Chevron 25">
            <a:extLst>
              <a:ext uri="{FF2B5EF4-FFF2-40B4-BE49-F238E27FC236}">
                <a16:creationId xmlns:a16="http://schemas.microsoft.com/office/drawing/2014/main" id="{506D8D3F-0221-CA95-1F26-CBF6FBC842B7}"/>
              </a:ext>
            </a:extLst>
          </p:cNvPr>
          <p:cNvSpPr/>
          <p:nvPr/>
        </p:nvSpPr>
        <p:spPr>
          <a:xfrm>
            <a:off x="3285219" y="2984239"/>
            <a:ext cx="810228" cy="266218"/>
          </a:xfrm>
          <a:prstGeom prst="chevron">
            <a:avLst/>
          </a:prstGeom>
          <a:solidFill>
            <a:schemeClr val="accent2">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4</a:t>
            </a:r>
          </a:p>
        </p:txBody>
      </p:sp>
      <p:sp>
        <p:nvSpPr>
          <p:cNvPr id="27" name="Chevron 26">
            <a:extLst>
              <a:ext uri="{FF2B5EF4-FFF2-40B4-BE49-F238E27FC236}">
                <a16:creationId xmlns:a16="http://schemas.microsoft.com/office/drawing/2014/main" id="{1B2C4BA4-DCEC-EC18-2C9C-2ADAD34C7B93}"/>
              </a:ext>
            </a:extLst>
          </p:cNvPr>
          <p:cNvSpPr/>
          <p:nvPr/>
        </p:nvSpPr>
        <p:spPr>
          <a:xfrm>
            <a:off x="3285219" y="3355203"/>
            <a:ext cx="810228" cy="266218"/>
          </a:xfrm>
          <a:prstGeom prst="chevron">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5</a:t>
            </a:r>
          </a:p>
        </p:txBody>
      </p:sp>
      <p:sp>
        <p:nvSpPr>
          <p:cNvPr id="28" name="Chevron 27">
            <a:extLst>
              <a:ext uri="{FF2B5EF4-FFF2-40B4-BE49-F238E27FC236}">
                <a16:creationId xmlns:a16="http://schemas.microsoft.com/office/drawing/2014/main" id="{8F07C05B-8BFC-938F-7930-CF2B4BE8BBEE}"/>
              </a:ext>
            </a:extLst>
          </p:cNvPr>
          <p:cNvSpPr/>
          <p:nvPr/>
        </p:nvSpPr>
        <p:spPr>
          <a:xfrm>
            <a:off x="3285219" y="3695553"/>
            <a:ext cx="810228" cy="266218"/>
          </a:xfrm>
          <a:prstGeom prst="chevron">
            <a:avLst/>
          </a:prstGeom>
          <a:solidFill>
            <a:schemeClr val="accent3">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6</a:t>
            </a:r>
          </a:p>
        </p:txBody>
      </p:sp>
      <p:sp>
        <p:nvSpPr>
          <p:cNvPr id="29" name="Chevron 28">
            <a:extLst>
              <a:ext uri="{FF2B5EF4-FFF2-40B4-BE49-F238E27FC236}">
                <a16:creationId xmlns:a16="http://schemas.microsoft.com/office/drawing/2014/main" id="{B1C316E5-905C-0FE7-49FF-C0857588586D}"/>
              </a:ext>
            </a:extLst>
          </p:cNvPr>
          <p:cNvSpPr/>
          <p:nvPr/>
        </p:nvSpPr>
        <p:spPr>
          <a:xfrm>
            <a:off x="3285219" y="4051077"/>
            <a:ext cx="810228" cy="266218"/>
          </a:xfrm>
          <a:prstGeom prst="chevron">
            <a:avLst/>
          </a:prstGeom>
          <a:solidFill>
            <a:schemeClr val="accent2">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7</a:t>
            </a:r>
          </a:p>
        </p:txBody>
      </p:sp>
      <p:sp>
        <p:nvSpPr>
          <p:cNvPr id="30" name="Chevron 29">
            <a:extLst>
              <a:ext uri="{FF2B5EF4-FFF2-40B4-BE49-F238E27FC236}">
                <a16:creationId xmlns:a16="http://schemas.microsoft.com/office/drawing/2014/main" id="{C6B93007-DD83-9C96-6A81-219E690DAC4B}"/>
              </a:ext>
            </a:extLst>
          </p:cNvPr>
          <p:cNvSpPr/>
          <p:nvPr/>
        </p:nvSpPr>
        <p:spPr>
          <a:xfrm>
            <a:off x="3285219" y="4734330"/>
            <a:ext cx="810228" cy="266218"/>
          </a:xfrm>
          <a:prstGeom prst="chevron">
            <a:avLst/>
          </a:prstGeom>
          <a:solidFill>
            <a:schemeClr val="accent6">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N</a:t>
            </a:r>
          </a:p>
        </p:txBody>
      </p:sp>
      <p:sp>
        <p:nvSpPr>
          <p:cNvPr id="31" name="TextBox 30">
            <a:extLst>
              <a:ext uri="{FF2B5EF4-FFF2-40B4-BE49-F238E27FC236}">
                <a16:creationId xmlns:a16="http://schemas.microsoft.com/office/drawing/2014/main" id="{592A248F-5FFB-C739-EC20-EE3447489869}"/>
              </a:ext>
            </a:extLst>
          </p:cNvPr>
          <p:cNvSpPr txBox="1"/>
          <p:nvPr/>
        </p:nvSpPr>
        <p:spPr>
          <a:xfrm rot="5400000">
            <a:off x="3507128" y="4337120"/>
            <a:ext cx="381836" cy="369332"/>
          </a:xfrm>
          <a:prstGeom prst="rect">
            <a:avLst/>
          </a:prstGeom>
          <a:noFill/>
        </p:spPr>
        <p:txBody>
          <a:bodyPr wrap="none" rtlCol="0">
            <a:spAutoFit/>
          </a:bodyPr>
          <a:lstStyle/>
          <a:p>
            <a:r>
              <a:rPr lang="en-US" dirty="0"/>
              <a:t>…</a:t>
            </a:r>
          </a:p>
        </p:txBody>
      </p:sp>
      <p:sp>
        <p:nvSpPr>
          <p:cNvPr id="32" name="Chevron 31">
            <a:extLst>
              <a:ext uri="{FF2B5EF4-FFF2-40B4-BE49-F238E27FC236}">
                <a16:creationId xmlns:a16="http://schemas.microsoft.com/office/drawing/2014/main" id="{94FDA174-7C79-B82E-B838-CEDA7313F440}"/>
              </a:ext>
            </a:extLst>
          </p:cNvPr>
          <p:cNvSpPr/>
          <p:nvPr/>
        </p:nvSpPr>
        <p:spPr>
          <a:xfrm>
            <a:off x="5333361" y="1733076"/>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1</a:t>
            </a:r>
          </a:p>
        </p:txBody>
      </p:sp>
      <p:sp>
        <p:nvSpPr>
          <p:cNvPr id="33" name="Chevron 32">
            <a:extLst>
              <a:ext uri="{FF2B5EF4-FFF2-40B4-BE49-F238E27FC236}">
                <a16:creationId xmlns:a16="http://schemas.microsoft.com/office/drawing/2014/main" id="{E57E0C4D-5510-5CE9-31D0-EB8D67F7866D}"/>
              </a:ext>
            </a:extLst>
          </p:cNvPr>
          <p:cNvSpPr/>
          <p:nvPr/>
        </p:nvSpPr>
        <p:spPr>
          <a:xfrm>
            <a:off x="5333361" y="2311281"/>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2</a:t>
            </a:r>
          </a:p>
          <a:p>
            <a:pPr algn="ctr"/>
            <a:r>
              <a:rPr lang="en-US" sz="1100" dirty="0">
                <a:solidFill>
                  <a:schemeClr val="bg1"/>
                </a:solidFill>
              </a:rPr>
              <a:t>H</a:t>
            </a:r>
            <a:r>
              <a:rPr lang="en-US" sz="1100" baseline="-25000" dirty="0">
                <a:solidFill>
                  <a:schemeClr val="bg1"/>
                </a:solidFill>
              </a:rPr>
              <a:t>5</a:t>
            </a:r>
          </a:p>
        </p:txBody>
      </p:sp>
      <p:sp>
        <p:nvSpPr>
          <p:cNvPr id="34" name="Chevron 33">
            <a:extLst>
              <a:ext uri="{FF2B5EF4-FFF2-40B4-BE49-F238E27FC236}">
                <a16:creationId xmlns:a16="http://schemas.microsoft.com/office/drawing/2014/main" id="{8B100DBC-CFAC-6BB8-55EB-25F9AFF4CEC9}"/>
              </a:ext>
            </a:extLst>
          </p:cNvPr>
          <p:cNvSpPr/>
          <p:nvPr/>
        </p:nvSpPr>
        <p:spPr>
          <a:xfrm>
            <a:off x="5333361" y="2888748"/>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6</a:t>
            </a:r>
          </a:p>
        </p:txBody>
      </p:sp>
      <p:sp>
        <p:nvSpPr>
          <p:cNvPr id="35" name="Chevron 34">
            <a:extLst>
              <a:ext uri="{FF2B5EF4-FFF2-40B4-BE49-F238E27FC236}">
                <a16:creationId xmlns:a16="http://schemas.microsoft.com/office/drawing/2014/main" id="{FFB806C7-10A1-9BC8-CB1B-018D6DCFBA2C}"/>
              </a:ext>
            </a:extLst>
          </p:cNvPr>
          <p:cNvSpPr/>
          <p:nvPr/>
        </p:nvSpPr>
        <p:spPr>
          <a:xfrm>
            <a:off x="5333361" y="3466953"/>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7</a:t>
            </a:r>
          </a:p>
          <a:p>
            <a:pPr algn="ctr"/>
            <a:r>
              <a:rPr lang="en-US" sz="1100" dirty="0">
                <a:solidFill>
                  <a:schemeClr val="bg1"/>
                </a:solidFill>
              </a:rPr>
              <a:t>H</a:t>
            </a:r>
            <a:r>
              <a:rPr lang="en-US" sz="1100" baseline="-25000" dirty="0">
                <a:solidFill>
                  <a:schemeClr val="bg1"/>
                </a:solidFill>
              </a:rPr>
              <a:t>6</a:t>
            </a:r>
          </a:p>
        </p:txBody>
      </p:sp>
      <p:sp>
        <p:nvSpPr>
          <p:cNvPr id="37" name="Chevron 36">
            <a:extLst>
              <a:ext uri="{FF2B5EF4-FFF2-40B4-BE49-F238E27FC236}">
                <a16:creationId xmlns:a16="http://schemas.microsoft.com/office/drawing/2014/main" id="{B255FCF6-41AA-4638-C4FC-174501D7DACA}"/>
              </a:ext>
            </a:extLst>
          </p:cNvPr>
          <p:cNvSpPr/>
          <p:nvPr/>
        </p:nvSpPr>
        <p:spPr>
          <a:xfrm>
            <a:off x="5333361" y="4584875"/>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N-1</a:t>
            </a:r>
          </a:p>
          <a:p>
            <a:pPr algn="ctr"/>
            <a:r>
              <a:rPr lang="en-US" sz="1100" dirty="0">
                <a:solidFill>
                  <a:schemeClr val="bg1"/>
                </a:solidFill>
              </a:rPr>
              <a:t>H</a:t>
            </a:r>
            <a:r>
              <a:rPr lang="en-US" sz="1100" baseline="-25000" dirty="0">
                <a:solidFill>
                  <a:schemeClr val="bg1"/>
                </a:solidFill>
              </a:rPr>
              <a:t>N</a:t>
            </a:r>
          </a:p>
        </p:txBody>
      </p:sp>
      <p:sp>
        <p:nvSpPr>
          <p:cNvPr id="38" name="TextBox 37">
            <a:extLst>
              <a:ext uri="{FF2B5EF4-FFF2-40B4-BE49-F238E27FC236}">
                <a16:creationId xmlns:a16="http://schemas.microsoft.com/office/drawing/2014/main" id="{6B401F13-42C0-39FD-C5C5-EE8A6CFB7F94}"/>
              </a:ext>
            </a:extLst>
          </p:cNvPr>
          <p:cNvSpPr txBox="1"/>
          <p:nvPr/>
        </p:nvSpPr>
        <p:spPr>
          <a:xfrm>
            <a:off x="6003074" y="2006756"/>
            <a:ext cx="306494" cy="261610"/>
          </a:xfrm>
          <a:prstGeom prst="rect">
            <a:avLst/>
          </a:prstGeom>
          <a:noFill/>
        </p:spPr>
        <p:txBody>
          <a:bodyPr wrap="none" rtlCol="0">
            <a:spAutoFit/>
          </a:bodyPr>
          <a:lstStyle/>
          <a:p>
            <a:r>
              <a:rPr lang="en-US" sz="1100" dirty="0"/>
              <a:t>Z</a:t>
            </a:r>
            <a:r>
              <a:rPr lang="en-US" sz="1100" baseline="-25000" dirty="0"/>
              <a:t>1</a:t>
            </a:r>
          </a:p>
        </p:txBody>
      </p:sp>
      <p:sp>
        <p:nvSpPr>
          <p:cNvPr id="39" name="TextBox 38">
            <a:extLst>
              <a:ext uri="{FF2B5EF4-FFF2-40B4-BE49-F238E27FC236}">
                <a16:creationId xmlns:a16="http://schemas.microsoft.com/office/drawing/2014/main" id="{C1B0FA6D-BCD6-6C29-4145-950EBBA7DDF1}"/>
              </a:ext>
            </a:extLst>
          </p:cNvPr>
          <p:cNvSpPr txBox="1"/>
          <p:nvPr/>
        </p:nvSpPr>
        <p:spPr>
          <a:xfrm>
            <a:off x="6012982" y="2562628"/>
            <a:ext cx="306494" cy="261610"/>
          </a:xfrm>
          <a:prstGeom prst="rect">
            <a:avLst/>
          </a:prstGeom>
          <a:noFill/>
        </p:spPr>
        <p:txBody>
          <a:bodyPr wrap="none" rtlCol="0">
            <a:spAutoFit/>
          </a:bodyPr>
          <a:lstStyle/>
          <a:p>
            <a:r>
              <a:rPr lang="en-US" sz="1100" dirty="0"/>
              <a:t>Z</a:t>
            </a:r>
            <a:r>
              <a:rPr lang="en-US" sz="1100" baseline="-25000" dirty="0"/>
              <a:t>2</a:t>
            </a:r>
          </a:p>
        </p:txBody>
      </p:sp>
      <p:sp>
        <p:nvSpPr>
          <p:cNvPr id="40" name="TextBox 39">
            <a:extLst>
              <a:ext uri="{FF2B5EF4-FFF2-40B4-BE49-F238E27FC236}">
                <a16:creationId xmlns:a16="http://schemas.microsoft.com/office/drawing/2014/main" id="{DD3BF15A-1BF4-5F0B-C44D-1472E977E4B5}"/>
              </a:ext>
            </a:extLst>
          </p:cNvPr>
          <p:cNvSpPr txBox="1"/>
          <p:nvPr/>
        </p:nvSpPr>
        <p:spPr>
          <a:xfrm>
            <a:off x="6012982" y="3167593"/>
            <a:ext cx="306494" cy="261610"/>
          </a:xfrm>
          <a:prstGeom prst="rect">
            <a:avLst/>
          </a:prstGeom>
          <a:noFill/>
        </p:spPr>
        <p:txBody>
          <a:bodyPr wrap="none" rtlCol="0">
            <a:spAutoFit/>
          </a:bodyPr>
          <a:lstStyle/>
          <a:p>
            <a:r>
              <a:rPr lang="en-US" sz="1100" dirty="0"/>
              <a:t>Z</a:t>
            </a:r>
            <a:r>
              <a:rPr lang="en-US" sz="1100" baseline="-25000" dirty="0"/>
              <a:t>3</a:t>
            </a:r>
          </a:p>
        </p:txBody>
      </p:sp>
      <p:sp>
        <p:nvSpPr>
          <p:cNvPr id="41" name="TextBox 40">
            <a:extLst>
              <a:ext uri="{FF2B5EF4-FFF2-40B4-BE49-F238E27FC236}">
                <a16:creationId xmlns:a16="http://schemas.microsoft.com/office/drawing/2014/main" id="{ECAD224D-E111-7716-E2B9-6015B75B2702}"/>
              </a:ext>
            </a:extLst>
          </p:cNvPr>
          <p:cNvSpPr txBox="1"/>
          <p:nvPr/>
        </p:nvSpPr>
        <p:spPr>
          <a:xfrm>
            <a:off x="6003074" y="3753426"/>
            <a:ext cx="306494" cy="261610"/>
          </a:xfrm>
          <a:prstGeom prst="rect">
            <a:avLst/>
          </a:prstGeom>
          <a:noFill/>
        </p:spPr>
        <p:txBody>
          <a:bodyPr wrap="none" rtlCol="0">
            <a:spAutoFit/>
          </a:bodyPr>
          <a:lstStyle/>
          <a:p>
            <a:r>
              <a:rPr lang="en-US" sz="1100" dirty="0"/>
              <a:t>Z</a:t>
            </a:r>
            <a:r>
              <a:rPr lang="en-US" sz="1100" baseline="-25000" dirty="0"/>
              <a:t>4</a:t>
            </a:r>
          </a:p>
        </p:txBody>
      </p:sp>
      <p:sp>
        <p:nvSpPr>
          <p:cNvPr id="42" name="TextBox 41">
            <a:extLst>
              <a:ext uri="{FF2B5EF4-FFF2-40B4-BE49-F238E27FC236}">
                <a16:creationId xmlns:a16="http://schemas.microsoft.com/office/drawing/2014/main" id="{EC9CEEB7-E48E-C7DB-A8FD-295F1C23FA84}"/>
              </a:ext>
            </a:extLst>
          </p:cNvPr>
          <p:cNvSpPr txBox="1"/>
          <p:nvPr/>
        </p:nvSpPr>
        <p:spPr>
          <a:xfrm>
            <a:off x="6014992" y="4911270"/>
            <a:ext cx="322524" cy="261610"/>
          </a:xfrm>
          <a:prstGeom prst="rect">
            <a:avLst/>
          </a:prstGeom>
          <a:noFill/>
        </p:spPr>
        <p:txBody>
          <a:bodyPr wrap="none" rtlCol="0">
            <a:spAutoFit/>
          </a:bodyPr>
          <a:lstStyle/>
          <a:p>
            <a:r>
              <a:rPr lang="en-US" sz="1100" dirty="0"/>
              <a:t>Z</a:t>
            </a:r>
            <a:r>
              <a:rPr lang="en-US" sz="1100" baseline="-25000" dirty="0"/>
              <a:t>N</a:t>
            </a:r>
          </a:p>
        </p:txBody>
      </p:sp>
      <p:sp>
        <p:nvSpPr>
          <p:cNvPr id="54" name="TextBox 53">
            <a:extLst>
              <a:ext uri="{FF2B5EF4-FFF2-40B4-BE49-F238E27FC236}">
                <a16:creationId xmlns:a16="http://schemas.microsoft.com/office/drawing/2014/main" id="{80D09520-7521-2972-7DA7-549F77538323}"/>
              </a:ext>
            </a:extLst>
          </p:cNvPr>
          <p:cNvSpPr txBox="1"/>
          <p:nvPr/>
        </p:nvSpPr>
        <p:spPr>
          <a:xfrm>
            <a:off x="4988388" y="836842"/>
            <a:ext cx="1331088" cy="600164"/>
          </a:xfrm>
          <a:prstGeom prst="rect">
            <a:avLst/>
          </a:prstGeom>
          <a:noFill/>
        </p:spPr>
        <p:txBody>
          <a:bodyPr wrap="square" rtlCol="0">
            <a:spAutoFit/>
          </a:bodyPr>
          <a:lstStyle/>
          <a:p>
            <a:pPr algn="ctr"/>
            <a:r>
              <a:rPr lang="en-US" sz="1100" dirty="0"/>
              <a:t>Pick 2N gametes to form N diploid zygotes (Z)</a:t>
            </a:r>
          </a:p>
        </p:txBody>
      </p:sp>
      <p:sp>
        <p:nvSpPr>
          <p:cNvPr id="55" name="TextBox 54">
            <a:extLst>
              <a:ext uri="{FF2B5EF4-FFF2-40B4-BE49-F238E27FC236}">
                <a16:creationId xmlns:a16="http://schemas.microsoft.com/office/drawing/2014/main" id="{3E6030C1-9B31-6AB1-99E9-43DA9A42FCDB}"/>
              </a:ext>
            </a:extLst>
          </p:cNvPr>
          <p:cNvSpPr txBox="1"/>
          <p:nvPr/>
        </p:nvSpPr>
        <p:spPr>
          <a:xfrm rot="5400000">
            <a:off x="5593254" y="4054808"/>
            <a:ext cx="381836" cy="369332"/>
          </a:xfrm>
          <a:prstGeom prst="rect">
            <a:avLst/>
          </a:prstGeom>
          <a:noFill/>
        </p:spPr>
        <p:txBody>
          <a:bodyPr wrap="none" rtlCol="0">
            <a:spAutoFit/>
          </a:bodyPr>
          <a:lstStyle/>
          <a:p>
            <a:r>
              <a:rPr lang="en-US" dirty="0"/>
              <a:t>…</a:t>
            </a:r>
          </a:p>
        </p:txBody>
      </p:sp>
      <p:sp>
        <p:nvSpPr>
          <p:cNvPr id="57" name="Chevron 56">
            <a:extLst>
              <a:ext uri="{FF2B5EF4-FFF2-40B4-BE49-F238E27FC236}">
                <a16:creationId xmlns:a16="http://schemas.microsoft.com/office/drawing/2014/main" id="{D316DD89-CED2-9063-E7D0-982C9526A82E}"/>
              </a:ext>
            </a:extLst>
          </p:cNvPr>
          <p:cNvSpPr/>
          <p:nvPr/>
        </p:nvSpPr>
        <p:spPr>
          <a:xfrm>
            <a:off x="7180270" y="1733076"/>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1</a:t>
            </a:r>
          </a:p>
        </p:txBody>
      </p:sp>
      <p:sp>
        <p:nvSpPr>
          <p:cNvPr id="58" name="Chevron 57">
            <a:extLst>
              <a:ext uri="{FF2B5EF4-FFF2-40B4-BE49-F238E27FC236}">
                <a16:creationId xmlns:a16="http://schemas.microsoft.com/office/drawing/2014/main" id="{CD1A0C70-4525-8205-6934-72DB8F777EF3}"/>
              </a:ext>
            </a:extLst>
          </p:cNvPr>
          <p:cNvSpPr/>
          <p:nvPr/>
        </p:nvSpPr>
        <p:spPr>
          <a:xfrm>
            <a:off x="7180270" y="2311281"/>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2</a:t>
            </a:r>
          </a:p>
          <a:p>
            <a:pPr algn="ctr"/>
            <a:r>
              <a:rPr lang="en-US" sz="1100" dirty="0">
                <a:solidFill>
                  <a:schemeClr val="bg1"/>
                </a:solidFill>
              </a:rPr>
              <a:t>H</a:t>
            </a:r>
            <a:r>
              <a:rPr lang="en-US" sz="1100" baseline="-25000" dirty="0">
                <a:solidFill>
                  <a:schemeClr val="bg1"/>
                </a:solidFill>
              </a:rPr>
              <a:t>5</a:t>
            </a:r>
          </a:p>
        </p:txBody>
      </p:sp>
      <p:sp>
        <p:nvSpPr>
          <p:cNvPr id="59" name="Chevron 58">
            <a:extLst>
              <a:ext uri="{FF2B5EF4-FFF2-40B4-BE49-F238E27FC236}">
                <a16:creationId xmlns:a16="http://schemas.microsoft.com/office/drawing/2014/main" id="{BDB5FCF8-64A3-1BC7-065B-F3593A525523}"/>
              </a:ext>
            </a:extLst>
          </p:cNvPr>
          <p:cNvSpPr/>
          <p:nvPr/>
        </p:nvSpPr>
        <p:spPr>
          <a:xfrm>
            <a:off x="7180270" y="2888748"/>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6</a:t>
            </a:r>
          </a:p>
        </p:txBody>
      </p:sp>
      <p:sp>
        <p:nvSpPr>
          <p:cNvPr id="60" name="Chevron 59">
            <a:extLst>
              <a:ext uri="{FF2B5EF4-FFF2-40B4-BE49-F238E27FC236}">
                <a16:creationId xmlns:a16="http://schemas.microsoft.com/office/drawing/2014/main" id="{1DDF939A-6F76-2B27-FDEA-31413191EE6A}"/>
              </a:ext>
            </a:extLst>
          </p:cNvPr>
          <p:cNvSpPr/>
          <p:nvPr/>
        </p:nvSpPr>
        <p:spPr>
          <a:xfrm>
            <a:off x="7180270" y="3466953"/>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7</a:t>
            </a:r>
          </a:p>
          <a:p>
            <a:pPr algn="ctr"/>
            <a:r>
              <a:rPr lang="en-US" sz="1100" dirty="0">
                <a:solidFill>
                  <a:schemeClr val="bg1"/>
                </a:solidFill>
              </a:rPr>
              <a:t>H</a:t>
            </a:r>
            <a:r>
              <a:rPr lang="en-US" sz="1100" baseline="-25000" dirty="0">
                <a:solidFill>
                  <a:schemeClr val="bg1"/>
                </a:solidFill>
              </a:rPr>
              <a:t>6</a:t>
            </a:r>
          </a:p>
        </p:txBody>
      </p:sp>
      <p:sp>
        <p:nvSpPr>
          <p:cNvPr id="61" name="Chevron 60">
            <a:extLst>
              <a:ext uri="{FF2B5EF4-FFF2-40B4-BE49-F238E27FC236}">
                <a16:creationId xmlns:a16="http://schemas.microsoft.com/office/drawing/2014/main" id="{037A9E39-F1BF-966C-BBD8-ADF2598EA829}"/>
              </a:ext>
            </a:extLst>
          </p:cNvPr>
          <p:cNvSpPr/>
          <p:nvPr/>
        </p:nvSpPr>
        <p:spPr>
          <a:xfrm>
            <a:off x="7180270" y="4584875"/>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N-1</a:t>
            </a:r>
          </a:p>
          <a:p>
            <a:pPr algn="ctr"/>
            <a:r>
              <a:rPr lang="en-US" sz="1100" dirty="0">
                <a:solidFill>
                  <a:schemeClr val="bg1"/>
                </a:solidFill>
              </a:rPr>
              <a:t>H</a:t>
            </a:r>
            <a:r>
              <a:rPr lang="en-US" sz="1100" baseline="-25000" dirty="0">
                <a:solidFill>
                  <a:schemeClr val="bg1"/>
                </a:solidFill>
              </a:rPr>
              <a:t>N</a:t>
            </a:r>
          </a:p>
        </p:txBody>
      </p:sp>
      <p:sp>
        <p:nvSpPr>
          <p:cNvPr id="62" name="TextBox 61">
            <a:extLst>
              <a:ext uri="{FF2B5EF4-FFF2-40B4-BE49-F238E27FC236}">
                <a16:creationId xmlns:a16="http://schemas.microsoft.com/office/drawing/2014/main" id="{D17A0F7A-91BB-6005-981F-06CE8D043EA1}"/>
              </a:ext>
            </a:extLst>
          </p:cNvPr>
          <p:cNvSpPr txBox="1"/>
          <p:nvPr/>
        </p:nvSpPr>
        <p:spPr>
          <a:xfrm>
            <a:off x="7849983" y="2006756"/>
            <a:ext cx="306494" cy="261610"/>
          </a:xfrm>
          <a:prstGeom prst="rect">
            <a:avLst/>
          </a:prstGeom>
          <a:noFill/>
        </p:spPr>
        <p:txBody>
          <a:bodyPr wrap="none" rtlCol="0">
            <a:spAutoFit/>
          </a:bodyPr>
          <a:lstStyle/>
          <a:p>
            <a:r>
              <a:rPr lang="en-US" sz="1100" dirty="0"/>
              <a:t>Z</a:t>
            </a:r>
            <a:r>
              <a:rPr lang="en-US" sz="1100" baseline="-25000" dirty="0"/>
              <a:t>1</a:t>
            </a:r>
          </a:p>
        </p:txBody>
      </p:sp>
      <p:sp>
        <p:nvSpPr>
          <p:cNvPr id="63" name="TextBox 62">
            <a:extLst>
              <a:ext uri="{FF2B5EF4-FFF2-40B4-BE49-F238E27FC236}">
                <a16:creationId xmlns:a16="http://schemas.microsoft.com/office/drawing/2014/main" id="{57E90935-197C-033D-8819-C52BDF8DB71D}"/>
              </a:ext>
            </a:extLst>
          </p:cNvPr>
          <p:cNvSpPr txBox="1"/>
          <p:nvPr/>
        </p:nvSpPr>
        <p:spPr>
          <a:xfrm>
            <a:off x="7859891" y="2562628"/>
            <a:ext cx="306494" cy="261610"/>
          </a:xfrm>
          <a:prstGeom prst="rect">
            <a:avLst/>
          </a:prstGeom>
          <a:noFill/>
        </p:spPr>
        <p:txBody>
          <a:bodyPr wrap="none" rtlCol="0">
            <a:spAutoFit/>
          </a:bodyPr>
          <a:lstStyle/>
          <a:p>
            <a:r>
              <a:rPr lang="en-US" sz="1100" dirty="0"/>
              <a:t>Z</a:t>
            </a:r>
            <a:r>
              <a:rPr lang="en-US" sz="1100" baseline="-25000" dirty="0"/>
              <a:t>2</a:t>
            </a:r>
          </a:p>
        </p:txBody>
      </p:sp>
      <p:sp>
        <p:nvSpPr>
          <p:cNvPr id="64" name="TextBox 63">
            <a:extLst>
              <a:ext uri="{FF2B5EF4-FFF2-40B4-BE49-F238E27FC236}">
                <a16:creationId xmlns:a16="http://schemas.microsoft.com/office/drawing/2014/main" id="{4A717DA9-9E99-B7BF-184B-156892770725}"/>
              </a:ext>
            </a:extLst>
          </p:cNvPr>
          <p:cNvSpPr txBox="1"/>
          <p:nvPr/>
        </p:nvSpPr>
        <p:spPr>
          <a:xfrm>
            <a:off x="7859891" y="3167593"/>
            <a:ext cx="306494" cy="261610"/>
          </a:xfrm>
          <a:prstGeom prst="rect">
            <a:avLst/>
          </a:prstGeom>
          <a:noFill/>
        </p:spPr>
        <p:txBody>
          <a:bodyPr wrap="none" rtlCol="0">
            <a:spAutoFit/>
          </a:bodyPr>
          <a:lstStyle/>
          <a:p>
            <a:r>
              <a:rPr lang="en-US" sz="1100" dirty="0"/>
              <a:t>Z</a:t>
            </a:r>
            <a:r>
              <a:rPr lang="en-US" sz="1100" baseline="-25000" dirty="0"/>
              <a:t>3</a:t>
            </a:r>
          </a:p>
        </p:txBody>
      </p:sp>
      <p:sp>
        <p:nvSpPr>
          <p:cNvPr id="65" name="TextBox 64">
            <a:extLst>
              <a:ext uri="{FF2B5EF4-FFF2-40B4-BE49-F238E27FC236}">
                <a16:creationId xmlns:a16="http://schemas.microsoft.com/office/drawing/2014/main" id="{A0498E9D-7CB7-6A1F-0023-A897EC4C9B8C}"/>
              </a:ext>
            </a:extLst>
          </p:cNvPr>
          <p:cNvSpPr txBox="1"/>
          <p:nvPr/>
        </p:nvSpPr>
        <p:spPr>
          <a:xfrm>
            <a:off x="7849983" y="3753426"/>
            <a:ext cx="306494" cy="261610"/>
          </a:xfrm>
          <a:prstGeom prst="rect">
            <a:avLst/>
          </a:prstGeom>
          <a:noFill/>
        </p:spPr>
        <p:txBody>
          <a:bodyPr wrap="none" rtlCol="0">
            <a:spAutoFit/>
          </a:bodyPr>
          <a:lstStyle/>
          <a:p>
            <a:r>
              <a:rPr lang="en-US" sz="1100" dirty="0"/>
              <a:t>Z</a:t>
            </a:r>
            <a:r>
              <a:rPr lang="en-US" sz="1100" baseline="-25000" dirty="0"/>
              <a:t>4</a:t>
            </a:r>
          </a:p>
        </p:txBody>
      </p:sp>
      <p:sp>
        <p:nvSpPr>
          <p:cNvPr id="66" name="TextBox 65">
            <a:extLst>
              <a:ext uri="{FF2B5EF4-FFF2-40B4-BE49-F238E27FC236}">
                <a16:creationId xmlns:a16="http://schemas.microsoft.com/office/drawing/2014/main" id="{274D8607-B8BC-CF2D-7DD1-4FA4551F6332}"/>
              </a:ext>
            </a:extLst>
          </p:cNvPr>
          <p:cNvSpPr txBox="1"/>
          <p:nvPr/>
        </p:nvSpPr>
        <p:spPr>
          <a:xfrm>
            <a:off x="7861901" y="4911270"/>
            <a:ext cx="322524" cy="261610"/>
          </a:xfrm>
          <a:prstGeom prst="rect">
            <a:avLst/>
          </a:prstGeom>
          <a:noFill/>
        </p:spPr>
        <p:txBody>
          <a:bodyPr wrap="none" rtlCol="0">
            <a:spAutoFit/>
          </a:bodyPr>
          <a:lstStyle/>
          <a:p>
            <a:r>
              <a:rPr lang="en-US" sz="1100" dirty="0"/>
              <a:t>Z</a:t>
            </a:r>
            <a:r>
              <a:rPr lang="en-US" sz="1100" baseline="-25000" dirty="0"/>
              <a:t>N</a:t>
            </a:r>
          </a:p>
        </p:txBody>
      </p:sp>
      <p:sp>
        <p:nvSpPr>
          <p:cNvPr id="67" name="TextBox 66">
            <a:extLst>
              <a:ext uri="{FF2B5EF4-FFF2-40B4-BE49-F238E27FC236}">
                <a16:creationId xmlns:a16="http://schemas.microsoft.com/office/drawing/2014/main" id="{46B34EBA-421D-52D9-758B-941ADF5EDA62}"/>
              </a:ext>
            </a:extLst>
          </p:cNvPr>
          <p:cNvSpPr txBox="1"/>
          <p:nvPr/>
        </p:nvSpPr>
        <p:spPr>
          <a:xfrm rot="5400000">
            <a:off x="7440163" y="4054808"/>
            <a:ext cx="381836" cy="369332"/>
          </a:xfrm>
          <a:prstGeom prst="rect">
            <a:avLst/>
          </a:prstGeom>
          <a:noFill/>
        </p:spPr>
        <p:txBody>
          <a:bodyPr wrap="none" rtlCol="0">
            <a:spAutoFit/>
          </a:bodyPr>
          <a:lstStyle/>
          <a:p>
            <a:r>
              <a:rPr lang="en-US" dirty="0"/>
              <a:t>…</a:t>
            </a:r>
          </a:p>
        </p:txBody>
      </p:sp>
      <p:sp>
        <p:nvSpPr>
          <p:cNvPr id="68" name="Chevron 67">
            <a:extLst>
              <a:ext uri="{FF2B5EF4-FFF2-40B4-BE49-F238E27FC236}">
                <a16:creationId xmlns:a16="http://schemas.microsoft.com/office/drawing/2014/main" id="{ECE20C7B-DFB3-8646-D5FE-32149B2D7889}"/>
              </a:ext>
            </a:extLst>
          </p:cNvPr>
          <p:cNvSpPr/>
          <p:nvPr/>
        </p:nvSpPr>
        <p:spPr>
          <a:xfrm>
            <a:off x="8965904" y="1754435"/>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1</a:t>
            </a:r>
          </a:p>
        </p:txBody>
      </p:sp>
      <p:sp>
        <p:nvSpPr>
          <p:cNvPr id="69" name="Chevron 68">
            <a:extLst>
              <a:ext uri="{FF2B5EF4-FFF2-40B4-BE49-F238E27FC236}">
                <a16:creationId xmlns:a16="http://schemas.microsoft.com/office/drawing/2014/main" id="{E53CE541-F026-CCB4-CE96-2FEB8C7C863C}"/>
              </a:ext>
            </a:extLst>
          </p:cNvPr>
          <p:cNvSpPr/>
          <p:nvPr/>
        </p:nvSpPr>
        <p:spPr>
          <a:xfrm>
            <a:off x="8965904" y="2332640"/>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2</a:t>
            </a:r>
          </a:p>
          <a:p>
            <a:pPr algn="ctr"/>
            <a:r>
              <a:rPr lang="en-US" sz="1100" dirty="0">
                <a:solidFill>
                  <a:schemeClr val="bg1"/>
                </a:solidFill>
              </a:rPr>
              <a:t>H’</a:t>
            </a:r>
            <a:r>
              <a:rPr lang="en-US" sz="1100" baseline="-25000" dirty="0">
                <a:solidFill>
                  <a:schemeClr val="bg1"/>
                </a:solidFill>
              </a:rPr>
              <a:t>5</a:t>
            </a:r>
          </a:p>
        </p:txBody>
      </p:sp>
      <p:sp>
        <p:nvSpPr>
          <p:cNvPr id="70" name="Chevron 69">
            <a:extLst>
              <a:ext uri="{FF2B5EF4-FFF2-40B4-BE49-F238E27FC236}">
                <a16:creationId xmlns:a16="http://schemas.microsoft.com/office/drawing/2014/main" id="{3FDC7825-556F-E3F1-D234-FCB8BBA2CA7C}"/>
              </a:ext>
            </a:extLst>
          </p:cNvPr>
          <p:cNvSpPr/>
          <p:nvPr/>
        </p:nvSpPr>
        <p:spPr>
          <a:xfrm>
            <a:off x="8965904" y="2910107"/>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1</a:t>
            </a:r>
          </a:p>
          <a:p>
            <a:pPr algn="ctr"/>
            <a:r>
              <a:rPr lang="en-US" sz="1100" dirty="0">
                <a:solidFill>
                  <a:schemeClr val="bg1"/>
                </a:solidFill>
              </a:rPr>
              <a:t>H</a:t>
            </a:r>
            <a:r>
              <a:rPr lang="en-US" sz="1100" baseline="-25000" dirty="0">
                <a:solidFill>
                  <a:schemeClr val="bg1"/>
                </a:solidFill>
              </a:rPr>
              <a:t>6</a:t>
            </a:r>
          </a:p>
        </p:txBody>
      </p:sp>
      <p:sp>
        <p:nvSpPr>
          <p:cNvPr id="71" name="Chevron 70">
            <a:extLst>
              <a:ext uri="{FF2B5EF4-FFF2-40B4-BE49-F238E27FC236}">
                <a16:creationId xmlns:a16="http://schemas.microsoft.com/office/drawing/2014/main" id="{8F361AEA-52BF-17AB-CA4E-1528D4DD070F}"/>
              </a:ext>
            </a:extLst>
          </p:cNvPr>
          <p:cNvSpPr/>
          <p:nvPr/>
        </p:nvSpPr>
        <p:spPr>
          <a:xfrm>
            <a:off x="8965904" y="3488312"/>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7</a:t>
            </a:r>
          </a:p>
          <a:p>
            <a:pPr algn="ctr"/>
            <a:r>
              <a:rPr lang="en-US" sz="1100" dirty="0">
                <a:solidFill>
                  <a:schemeClr val="bg1"/>
                </a:solidFill>
              </a:rPr>
              <a:t>H’</a:t>
            </a:r>
            <a:r>
              <a:rPr lang="en-US" sz="1100" baseline="-25000" dirty="0">
                <a:solidFill>
                  <a:schemeClr val="bg1"/>
                </a:solidFill>
              </a:rPr>
              <a:t>6</a:t>
            </a:r>
          </a:p>
        </p:txBody>
      </p:sp>
      <p:sp>
        <p:nvSpPr>
          <p:cNvPr id="72" name="Chevron 71">
            <a:extLst>
              <a:ext uri="{FF2B5EF4-FFF2-40B4-BE49-F238E27FC236}">
                <a16:creationId xmlns:a16="http://schemas.microsoft.com/office/drawing/2014/main" id="{523D06AF-523A-0918-FDD7-11095EC379A5}"/>
              </a:ext>
            </a:extLst>
          </p:cNvPr>
          <p:cNvSpPr/>
          <p:nvPr/>
        </p:nvSpPr>
        <p:spPr>
          <a:xfrm>
            <a:off x="8965904" y="4606234"/>
            <a:ext cx="822960" cy="457200"/>
          </a:xfrm>
          <a:prstGeom prst="chevron">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solidFill>
                  <a:schemeClr val="bg1"/>
                </a:solidFill>
              </a:rPr>
              <a:t>H</a:t>
            </a:r>
            <a:r>
              <a:rPr lang="en-US" sz="1100" baseline="-25000" dirty="0">
                <a:solidFill>
                  <a:schemeClr val="bg1"/>
                </a:solidFill>
              </a:rPr>
              <a:t>N-1</a:t>
            </a:r>
          </a:p>
          <a:p>
            <a:pPr algn="ctr"/>
            <a:r>
              <a:rPr lang="en-US" sz="1100" dirty="0">
                <a:solidFill>
                  <a:schemeClr val="bg1"/>
                </a:solidFill>
              </a:rPr>
              <a:t>H</a:t>
            </a:r>
            <a:r>
              <a:rPr lang="en-US" sz="1100" baseline="-25000" dirty="0">
                <a:solidFill>
                  <a:schemeClr val="bg1"/>
                </a:solidFill>
              </a:rPr>
              <a:t>N</a:t>
            </a:r>
          </a:p>
        </p:txBody>
      </p:sp>
      <p:sp>
        <p:nvSpPr>
          <p:cNvPr id="73" name="TextBox 72">
            <a:extLst>
              <a:ext uri="{FF2B5EF4-FFF2-40B4-BE49-F238E27FC236}">
                <a16:creationId xmlns:a16="http://schemas.microsoft.com/office/drawing/2014/main" id="{34895715-AD2A-1832-49C7-D672CD291B6C}"/>
              </a:ext>
            </a:extLst>
          </p:cNvPr>
          <p:cNvSpPr txBox="1"/>
          <p:nvPr/>
        </p:nvSpPr>
        <p:spPr>
          <a:xfrm>
            <a:off x="9635617" y="2028115"/>
            <a:ext cx="306494" cy="261610"/>
          </a:xfrm>
          <a:prstGeom prst="rect">
            <a:avLst/>
          </a:prstGeom>
          <a:noFill/>
        </p:spPr>
        <p:txBody>
          <a:bodyPr wrap="none" rtlCol="0">
            <a:spAutoFit/>
          </a:bodyPr>
          <a:lstStyle/>
          <a:p>
            <a:r>
              <a:rPr lang="en-US" sz="1100" dirty="0"/>
              <a:t>Z</a:t>
            </a:r>
            <a:r>
              <a:rPr lang="en-US" sz="1100" baseline="-25000" dirty="0"/>
              <a:t>1</a:t>
            </a:r>
          </a:p>
        </p:txBody>
      </p:sp>
      <p:sp>
        <p:nvSpPr>
          <p:cNvPr id="74" name="TextBox 73">
            <a:extLst>
              <a:ext uri="{FF2B5EF4-FFF2-40B4-BE49-F238E27FC236}">
                <a16:creationId xmlns:a16="http://schemas.microsoft.com/office/drawing/2014/main" id="{9EA935ED-5D0D-FF04-E674-E7DE175FBAF0}"/>
              </a:ext>
            </a:extLst>
          </p:cNvPr>
          <p:cNvSpPr txBox="1"/>
          <p:nvPr/>
        </p:nvSpPr>
        <p:spPr>
          <a:xfrm>
            <a:off x="9645525" y="2583987"/>
            <a:ext cx="306494" cy="261610"/>
          </a:xfrm>
          <a:prstGeom prst="rect">
            <a:avLst/>
          </a:prstGeom>
          <a:noFill/>
        </p:spPr>
        <p:txBody>
          <a:bodyPr wrap="none" rtlCol="0">
            <a:spAutoFit/>
          </a:bodyPr>
          <a:lstStyle/>
          <a:p>
            <a:r>
              <a:rPr lang="en-US" sz="1100" dirty="0"/>
              <a:t>Z</a:t>
            </a:r>
            <a:r>
              <a:rPr lang="en-US" sz="1100" baseline="-25000" dirty="0"/>
              <a:t>2</a:t>
            </a:r>
          </a:p>
        </p:txBody>
      </p:sp>
      <p:sp>
        <p:nvSpPr>
          <p:cNvPr id="75" name="TextBox 74">
            <a:extLst>
              <a:ext uri="{FF2B5EF4-FFF2-40B4-BE49-F238E27FC236}">
                <a16:creationId xmlns:a16="http://schemas.microsoft.com/office/drawing/2014/main" id="{A1082844-01E3-9830-CA02-2AB93094E492}"/>
              </a:ext>
            </a:extLst>
          </p:cNvPr>
          <p:cNvSpPr txBox="1"/>
          <p:nvPr/>
        </p:nvSpPr>
        <p:spPr>
          <a:xfrm>
            <a:off x="9645525" y="3188952"/>
            <a:ext cx="306494" cy="261610"/>
          </a:xfrm>
          <a:prstGeom prst="rect">
            <a:avLst/>
          </a:prstGeom>
          <a:noFill/>
        </p:spPr>
        <p:txBody>
          <a:bodyPr wrap="none" rtlCol="0">
            <a:spAutoFit/>
          </a:bodyPr>
          <a:lstStyle/>
          <a:p>
            <a:r>
              <a:rPr lang="en-US" sz="1100" dirty="0"/>
              <a:t>Z</a:t>
            </a:r>
            <a:r>
              <a:rPr lang="en-US" sz="1100" baseline="-25000" dirty="0"/>
              <a:t>3</a:t>
            </a:r>
          </a:p>
        </p:txBody>
      </p:sp>
      <p:sp>
        <p:nvSpPr>
          <p:cNvPr id="76" name="TextBox 75">
            <a:extLst>
              <a:ext uri="{FF2B5EF4-FFF2-40B4-BE49-F238E27FC236}">
                <a16:creationId xmlns:a16="http://schemas.microsoft.com/office/drawing/2014/main" id="{4E566A93-869B-32E9-3488-02EDA2FE5A25}"/>
              </a:ext>
            </a:extLst>
          </p:cNvPr>
          <p:cNvSpPr txBox="1"/>
          <p:nvPr/>
        </p:nvSpPr>
        <p:spPr>
          <a:xfrm>
            <a:off x="9635617" y="3774785"/>
            <a:ext cx="306494" cy="261610"/>
          </a:xfrm>
          <a:prstGeom prst="rect">
            <a:avLst/>
          </a:prstGeom>
          <a:noFill/>
        </p:spPr>
        <p:txBody>
          <a:bodyPr wrap="none" rtlCol="0">
            <a:spAutoFit/>
          </a:bodyPr>
          <a:lstStyle/>
          <a:p>
            <a:r>
              <a:rPr lang="en-US" sz="1100" dirty="0"/>
              <a:t>Z</a:t>
            </a:r>
            <a:r>
              <a:rPr lang="en-US" sz="1100" baseline="-25000" dirty="0"/>
              <a:t>4</a:t>
            </a:r>
          </a:p>
        </p:txBody>
      </p:sp>
      <p:sp>
        <p:nvSpPr>
          <p:cNvPr id="77" name="TextBox 76">
            <a:extLst>
              <a:ext uri="{FF2B5EF4-FFF2-40B4-BE49-F238E27FC236}">
                <a16:creationId xmlns:a16="http://schemas.microsoft.com/office/drawing/2014/main" id="{C3DE576A-FD64-752C-B892-019D10AD4645}"/>
              </a:ext>
            </a:extLst>
          </p:cNvPr>
          <p:cNvSpPr txBox="1"/>
          <p:nvPr/>
        </p:nvSpPr>
        <p:spPr>
          <a:xfrm>
            <a:off x="9647535" y="4932629"/>
            <a:ext cx="322524" cy="261610"/>
          </a:xfrm>
          <a:prstGeom prst="rect">
            <a:avLst/>
          </a:prstGeom>
          <a:noFill/>
        </p:spPr>
        <p:txBody>
          <a:bodyPr wrap="none" rtlCol="0">
            <a:spAutoFit/>
          </a:bodyPr>
          <a:lstStyle/>
          <a:p>
            <a:r>
              <a:rPr lang="en-US" sz="1100" dirty="0"/>
              <a:t>Z</a:t>
            </a:r>
            <a:r>
              <a:rPr lang="en-US" sz="1100" baseline="-25000" dirty="0"/>
              <a:t>N</a:t>
            </a:r>
          </a:p>
        </p:txBody>
      </p:sp>
      <p:sp>
        <p:nvSpPr>
          <p:cNvPr id="78" name="TextBox 77">
            <a:extLst>
              <a:ext uri="{FF2B5EF4-FFF2-40B4-BE49-F238E27FC236}">
                <a16:creationId xmlns:a16="http://schemas.microsoft.com/office/drawing/2014/main" id="{DE8FAFE7-8E6F-1A58-AADA-0B478FE23A44}"/>
              </a:ext>
            </a:extLst>
          </p:cNvPr>
          <p:cNvSpPr txBox="1"/>
          <p:nvPr/>
        </p:nvSpPr>
        <p:spPr>
          <a:xfrm rot="5400000">
            <a:off x="9225797" y="4076167"/>
            <a:ext cx="381836" cy="369332"/>
          </a:xfrm>
          <a:prstGeom prst="rect">
            <a:avLst/>
          </a:prstGeom>
          <a:noFill/>
        </p:spPr>
        <p:txBody>
          <a:bodyPr wrap="none" rtlCol="0">
            <a:spAutoFit/>
          </a:bodyPr>
          <a:lstStyle/>
          <a:p>
            <a:r>
              <a:rPr lang="en-US" dirty="0"/>
              <a:t>…</a:t>
            </a:r>
          </a:p>
        </p:txBody>
      </p:sp>
      <p:cxnSp>
        <p:nvCxnSpPr>
          <p:cNvPr id="80" name="Straight Arrow Connector 79">
            <a:extLst>
              <a:ext uri="{FF2B5EF4-FFF2-40B4-BE49-F238E27FC236}">
                <a16:creationId xmlns:a16="http://schemas.microsoft.com/office/drawing/2014/main" id="{EA49DF27-222B-D0BE-9BF0-9E50711D7C5F}"/>
              </a:ext>
            </a:extLst>
          </p:cNvPr>
          <p:cNvCxnSpPr>
            <a:endCxn id="23" idx="1"/>
          </p:cNvCxnSpPr>
          <p:nvPr/>
        </p:nvCxnSpPr>
        <p:spPr>
          <a:xfrm flipV="1">
            <a:off x="2341881" y="2039712"/>
            <a:ext cx="1076447" cy="6040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4A004B59-67A3-3668-0590-0C2EBC2AD6CD}"/>
              </a:ext>
            </a:extLst>
          </p:cNvPr>
          <p:cNvCxnSpPr>
            <a:endCxn id="25" idx="1"/>
          </p:cNvCxnSpPr>
          <p:nvPr/>
        </p:nvCxnSpPr>
        <p:spPr>
          <a:xfrm>
            <a:off x="2341881" y="2643729"/>
            <a:ext cx="1076447" cy="1144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51D7207-B8C6-97B6-BDF8-33464876AD60}"/>
              </a:ext>
            </a:extLst>
          </p:cNvPr>
          <p:cNvCxnSpPr>
            <a:endCxn id="27" idx="1"/>
          </p:cNvCxnSpPr>
          <p:nvPr/>
        </p:nvCxnSpPr>
        <p:spPr>
          <a:xfrm>
            <a:off x="2341881" y="2643729"/>
            <a:ext cx="1076447" cy="8445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85">
            <a:extLst>
              <a:ext uri="{FF2B5EF4-FFF2-40B4-BE49-F238E27FC236}">
                <a16:creationId xmlns:a16="http://schemas.microsoft.com/office/drawing/2014/main" id="{E13E6CC0-7F25-F1C9-0434-8FD7FA2EA2A5}"/>
              </a:ext>
            </a:extLst>
          </p:cNvPr>
          <p:cNvCxnSpPr>
            <a:stCxn id="9" idx="3"/>
            <a:endCxn id="24" idx="1"/>
          </p:cNvCxnSpPr>
          <p:nvPr/>
        </p:nvCxnSpPr>
        <p:spPr>
          <a:xfrm flipV="1">
            <a:off x="2249283" y="2398924"/>
            <a:ext cx="1169045" cy="13660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3D7654BC-1E56-D428-4291-D81766921403}"/>
              </a:ext>
            </a:extLst>
          </p:cNvPr>
          <p:cNvCxnSpPr>
            <a:stCxn id="9" idx="3"/>
            <a:endCxn id="28" idx="1"/>
          </p:cNvCxnSpPr>
          <p:nvPr/>
        </p:nvCxnSpPr>
        <p:spPr>
          <a:xfrm>
            <a:off x="2249283" y="3765001"/>
            <a:ext cx="1169045" cy="636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A51157E-CF4B-0C2F-23B4-089B4793ABC3}"/>
              </a:ext>
            </a:extLst>
          </p:cNvPr>
          <p:cNvCxnSpPr>
            <a:stCxn id="8" idx="3"/>
            <a:endCxn id="26" idx="1"/>
          </p:cNvCxnSpPr>
          <p:nvPr/>
        </p:nvCxnSpPr>
        <p:spPr>
          <a:xfrm flipV="1">
            <a:off x="2249283" y="3117348"/>
            <a:ext cx="1169045" cy="781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8F32D48-357C-970C-C6B9-B1A6DD1B2431}"/>
              </a:ext>
            </a:extLst>
          </p:cNvPr>
          <p:cNvCxnSpPr>
            <a:cxnSpLocks/>
            <a:stCxn id="10" idx="3"/>
            <a:endCxn id="30" idx="1"/>
          </p:cNvCxnSpPr>
          <p:nvPr/>
        </p:nvCxnSpPr>
        <p:spPr>
          <a:xfrm>
            <a:off x="2249283" y="4537560"/>
            <a:ext cx="1169045" cy="329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FBE94EB8-E75E-CDD3-1BAC-B828D44DB799}"/>
              </a:ext>
            </a:extLst>
          </p:cNvPr>
          <p:cNvCxnSpPr>
            <a:stCxn id="8" idx="3"/>
            <a:endCxn id="29" idx="1"/>
          </p:cNvCxnSpPr>
          <p:nvPr/>
        </p:nvCxnSpPr>
        <p:spPr>
          <a:xfrm>
            <a:off x="2249283" y="3195499"/>
            <a:ext cx="1169045" cy="9886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urved Connector 96">
            <a:extLst>
              <a:ext uri="{FF2B5EF4-FFF2-40B4-BE49-F238E27FC236}">
                <a16:creationId xmlns:a16="http://schemas.microsoft.com/office/drawing/2014/main" id="{5371E901-7E53-1EF6-1A37-7691CCC64EC8}"/>
              </a:ext>
            </a:extLst>
          </p:cNvPr>
          <p:cNvCxnSpPr>
            <a:cxnSpLocks/>
          </p:cNvCxnSpPr>
          <p:nvPr/>
        </p:nvCxnSpPr>
        <p:spPr>
          <a:xfrm flipV="1">
            <a:off x="4047186" y="1901985"/>
            <a:ext cx="1466514" cy="78036"/>
          </a:xfrm>
          <a:prstGeom prst="curvedConnector3">
            <a:avLst>
              <a:gd name="adj1" fmla="val 20357"/>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9" name="Curved Connector 98">
            <a:extLst>
              <a:ext uri="{FF2B5EF4-FFF2-40B4-BE49-F238E27FC236}">
                <a16:creationId xmlns:a16="http://schemas.microsoft.com/office/drawing/2014/main" id="{6DB11D73-9E57-A50E-7855-6B6D1E4CA561}"/>
              </a:ext>
            </a:extLst>
          </p:cNvPr>
          <p:cNvCxnSpPr>
            <a:cxnSpLocks/>
          </p:cNvCxnSpPr>
          <p:nvPr/>
        </p:nvCxnSpPr>
        <p:spPr>
          <a:xfrm flipV="1">
            <a:off x="4047186" y="2032790"/>
            <a:ext cx="1466514" cy="78036"/>
          </a:xfrm>
          <a:prstGeom prst="curvedConnector3">
            <a:avLst>
              <a:gd name="adj1" fmla="val 68399"/>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BB38135A-3A77-E170-68E5-493B80DDFA9F}"/>
              </a:ext>
            </a:extLst>
          </p:cNvPr>
          <p:cNvCxnSpPr>
            <a:stCxn id="23" idx="3"/>
          </p:cNvCxnSpPr>
          <p:nvPr/>
        </p:nvCxnSpPr>
        <p:spPr>
          <a:xfrm>
            <a:off x="4095447" y="2039712"/>
            <a:ext cx="1418253" cy="10263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713C2E1E-8357-A29C-6195-8BE68235821C}"/>
              </a:ext>
            </a:extLst>
          </p:cNvPr>
          <p:cNvCxnSpPr>
            <a:cxnSpLocks/>
            <a:stCxn id="24" idx="3"/>
          </p:cNvCxnSpPr>
          <p:nvPr/>
        </p:nvCxnSpPr>
        <p:spPr>
          <a:xfrm>
            <a:off x="4095447" y="2398924"/>
            <a:ext cx="1237914" cy="48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1B6A3AC6-7FE4-D2AE-D87A-5DC1DE9302D5}"/>
              </a:ext>
            </a:extLst>
          </p:cNvPr>
          <p:cNvCxnSpPr/>
          <p:nvPr/>
        </p:nvCxnSpPr>
        <p:spPr>
          <a:xfrm flipV="1">
            <a:off x="4095447" y="2625027"/>
            <a:ext cx="1237914" cy="8632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1095BB53-37E0-26C0-161E-B38DFC6C3E27}"/>
              </a:ext>
            </a:extLst>
          </p:cNvPr>
          <p:cNvCxnSpPr>
            <a:stCxn id="28" idx="3"/>
          </p:cNvCxnSpPr>
          <p:nvPr/>
        </p:nvCxnSpPr>
        <p:spPr>
          <a:xfrm flipV="1">
            <a:off x="4095447" y="3189160"/>
            <a:ext cx="1418253" cy="639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00A139DB-94DE-F133-AAEA-0A3CA7455D15}"/>
              </a:ext>
            </a:extLst>
          </p:cNvPr>
          <p:cNvCxnSpPr>
            <a:stCxn id="28" idx="3"/>
          </p:cNvCxnSpPr>
          <p:nvPr/>
        </p:nvCxnSpPr>
        <p:spPr>
          <a:xfrm>
            <a:off x="4095447" y="3828662"/>
            <a:ext cx="123791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796CB09E-8C8E-7BC9-59E2-79719D9038E3}"/>
              </a:ext>
            </a:extLst>
          </p:cNvPr>
          <p:cNvCxnSpPr>
            <a:stCxn id="29" idx="3"/>
          </p:cNvCxnSpPr>
          <p:nvPr/>
        </p:nvCxnSpPr>
        <p:spPr>
          <a:xfrm flipV="1">
            <a:off x="4095447" y="3621421"/>
            <a:ext cx="1237914" cy="562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D6D60163-0916-7C16-7B5B-56B0BA9CC65B}"/>
              </a:ext>
            </a:extLst>
          </p:cNvPr>
          <p:cNvCxnSpPr>
            <a:stCxn id="30" idx="3"/>
          </p:cNvCxnSpPr>
          <p:nvPr/>
        </p:nvCxnSpPr>
        <p:spPr>
          <a:xfrm>
            <a:off x="4095447" y="4867439"/>
            <a:ext cx="1237914" cy="438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9" name="TextBox 118">
            <a:extLst>
              <a:ext uri="{FF2B5EF4-FFF2-40B4-BE49-F238E27FC236}">
                <a16:creationId xmlns:a16="http://schemas.microsoft.com/office/drawing/2014/main" id="{96BD026A-73F0-A7C7-6895-D15ACD1759C4}"/>
              </a:ext>
            </a:extLst>
          </p:cNvPr>
          <p:cNvSpPr txBox="1"/>
          <p:nvPr/>
        </p:nvSpPr>
        <p:spPr>
          <a:xfrm>
            <a:off x="10271221" y="836842"/>
            <a:ext cx="1460535" cy="430887"/>
          </a:xfrm>
          <a:prstGeom prst="rect">
            <a:avLst/>
          </a:prstGeom>
          <a:noFill/>
        </p:spPr>
        <p:txBody>
          <a:bodyPr wrap="square" rtlCol="0">
            <a:spAutoFit/>
          </a:bodyPr>
          <a:lstStyle/>
          <a:p>
            <a:pPr algn="ctr"/>
            <a:r>
              <a:rPr lang="en-US" sz="1100" dirty="0"/>
              <a:t>2N Haploid individuals</a:t>
            </a:r>
          </a:p>
        </p:txBody>
      </p:sp>
      <p:cxnSp>
        <p:nvCxnSpPr>
          <p:cNvPr id="121" name="Elbow Connector 120">
            <a:extLst>
              <a:ext uri="{FF2B5EF4-FFF2-40B4-BE49-F238E27FC236}">
                <a16:creationId xmlns:a16="http://schemas.microsoft.com/office/drawing/2014/main" id="{E8F34C2C-6E03-66DE-5CCF-35724637EA08}"/>
              </a:ext>
            </a:extLst>
          </p:cNvPr>
          <p:cNvCxnSpPr>
            <a:stCxn id="119" idx="0"/>
            <a:endCxn id="22" idx="0"/>
          </p:cNvCxnSpPr>
          <p:nvPr/>
        </p:nvCxnSpPr>
        <p:spPr>
          <a:xfrm rot="16200000" flipH="1" flipV="1">
            <a:off x="7343148" y="-2815974"/>
            <a:ext cx="5525" cy="7311156"/>
          </a:xfrm>
          <a:prstGeom prst="bentConnector3">
            <a:avLst>
              <a:gd name="adj1" fmla="val -4137557"/>
            </a:avLst>
          </a:prstGeom>
          <a:ln>
            <a:tailEnd type="triangle"/>
          </a:ln>
        </p:spPr>
        <p:style>
          <a:lnRef idx="2">
            <a:schemeClr val="accent1"/>
          </a:lnRef>
          <a:fillRef idx="0">
            <a:schemeClr val="accent1"/>
          </a:fillRef>
          <a:effectRef idx="1">
            <a:schemeClr val="accent1"/>
          </a:effectRef>
          <a:fontRef idx="minor">
            <a:schemeClr val="tx1"/>
          </a:fontRef>
        </p:style>
      </p:cxnSp>
      <p:sp>
        <p:nvSpPr>
          <p:cNvPr id="122" name="Chevron 121">
            <a:extLst>
              <a:ext uri="{FF2B5EF4-FFF2-40B4-BE49-F238E27FC236}">
                <a16:creationId xmlns:a16="http://schemas.microsoft.com/office/drawing/2014/main" id="{FC87C82F-8935-0B4F-ED08-1C443B97DC16}"/>
              </a:ext>
            </a:extLst>
          </p:cNvPr>
          <p:cNvSpPr/>
          <p:nvPr/>
        </p:nvSpPr>
        <p:spPr>
          <a:xfrm>
            <a:off x="10596375" y="1774541"/>
            <a:ext cx="810228" cy="266218"/>
          </a:xfrm>
          <a:prstGeom prst="chevron">
            <a:avLst/>
          </a:prstGeom>
          <a:solidFill>
            <a:schemeClr val="bg2">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1</a:t>
            </a:r>
          </a:p>
        </p:txBody>
      </p:sp>
      <p:sp>
        <p:nvSpPr>
          <p:cNvPr id="123" name="Chevron 122">
            <a:extLst>
              <a:ext uri="{FF2B5EF4-FFF2-40B4-BE49-F238E27FC236}">
                <a16:creationId xmlns:a16="http://schemas.microsoft.com/office/drawing/2014/main" id="{BF7ADC16-84A6-8509-4B4F-43FD8A814812}"/>
              </a:ext>
            </a:extLst>
          </p:cNvPr>
          <p:cNvSpPr/>
          <p:nvPr/>
        </p:nvSpPr>
        <p:spPr>
          <a:xfrm>
            <a:off x="10596375" y="2133753"/>
            <a:ext cx="810228" cy="266218"/>
          </a:xfrm>
          <a:prstGeom prst="chevron">
            <a:avLst/>
          </a:prstGeom>
          <a:solidFill>
            <a:schemeClr val="tx2">
              <a:lumMod val="50000"/>
              <a:lumOff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2</a:t>
            </a:r>
          </a:p>
        </p:txBody>
      </p:sp>
      <p:sp>
        <p:nvSpPr>
          <p:cNvPr id="124" name="Chevron 123">
            <a:extLst>
              <a:ext uri="{FF2B5EF4-FFF2-40B4-BE49-F238E27FC236}">
                <a16:creationId xmlns:a16="http://schemas.microsoft.com/office/drawing/2014/main" id="{E7E7AE35-8E11-8EEB-2955-6AB7A7466540}"/>
              </a:ext>
            </a:extLst>
          </p:cNvPr>
          <p:cNvSpPr/>
          <p:nvPr/>
        </p:nvSpPr>
        <p:spPr>
          <a:xfrm>
            <a:off x="10596375" y="2492965"/>
            <a:ext cx="810228" cy="266218"/>
          </a:xfrm>
          <a:prstGeom prst="chevron">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3</a:t>
            </a:r>
          </a:p>
        </p:txBody>
      </p:sp>
      <p:sp>
        <p:nvSpPr>
          <p:cNvPr id="125" name="Chevron 124">
            <a:extLst>
              <a:ext uri="{FF2B5EF4-FFF2-40B4-BE49-F238E27FC236}">
                <a16:creationId xmlns:a16="http://schemas.microsoft.com/office/drawing/2014/main" id="{B475B997-3D0D-D0D8-9C47-27F6EAB0ECF9}"/>
              </a:ext>
            </a:extLst>
          </p:cNvPr>
          <p:cNvSpPr/>
          <p:nvPr/>
        </p:nvSpPr>
        <p:spPr>
          <a:xfrm>
            <a:off x="10596375" y="2852177"/>
            <a:ext cx="810228" cy="266218"/>
          </a:xfrm>
          <a:prstGeom prst="chevron">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4</a:t>
            </a:r>
          </a:p>
        </p:txBody>
      </p:sp>
      <p:sp>
        <p:nvSpPr>
          <p:cNvPr id="126" name="Chevron 125">
            <a:extLst>
              <a:ext uri="{FF2B5EF4-FFF2-40B4-BE49-F238E27FC236}">
                <a16:creationId xmlns:a16="http://schemas.microsoft.com/office/drawing/2014/main" id="{3E780B13-9B74-CA64-142C-F3E5CB470A21}"/>
              </a:ext>
            </a:extLst>
          </p:cNvPr>
          <p:cNvSpPr/>
          <p:nvPr/>
        </p:nvSpPr>
        <p:spPr>
          <a:xfrm>
            <a:off x="10596375" y="3223141"/>
            <a:ext cx="810228" cy="266218"/>
          </a:xfrm>
          <a:prstGeom prst="chevron">
            <a:avLst/>
          </a:prstGeom>
          <a:solidFill>
            <a:schemeClr val="accent3">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5</a:t>
            </a:r>
          </a:p>
        </p:txBody>
      </p:sp>
      <p:sp>
        <p:nvSpPr>
          <p:cNvPr id="127" name="Chevron 126">
            <a:extLst>
              <a:ext uri="{FF2B5EF4-FFF2-40B4-BE49-F238E27FC236}">
                <a16:creationId xmlns:a16="http://schemas.microsoft.com/office/drawing/2014/main" id="{18A8093F-2E40-46F7-7545-CB80431986DB}"/>
              </a:ext>
            </a:extLst>
          </p:cNvPr>
          <p:cNvSpPr/>
          <p:nvPr/>
        </p:nvSpPr>
        <p:spPr>
          <a:xfrm>
            <a:off x="10596375" y="3563491"/>
            <a:ext cx="810228" cy="266218"/>
          </a:xfrm>
          <a:prstGeom prst="chevron">
            <a:avLst/>
          </a:prstGeom>
          <a:solidFill>
            <a:schemeClr val="accent4">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6</a:t>
            </a:r>
          </a:p>
        </p:txBody>
      </p:sp>
      <p:sp>
        <p:nvSpPr>
          <p:cNvPr id="128" name="Chevron 127">
            <a:extLst>
              <a:ext uri="{FF2B5EF4-FFF2-40B4-BE49-F238E27FC236}">
                <a16:creationId xmlns:a16="http://schemas.microsoft.com/office/drawing/2014/main" id="{FCBC36A4-8F9E-0F55-BED5-1F1CC6CF1011}"/>
              </a:ext>
            </a:extLst>
          </p:cNvPr>
          <p:cNvSpPr/>
          <p:nvPr/>
        </p:nvSpPr>
        <p:spPr>
          <a:xfrm>
            <a:off x="10596375" y="3919015"/>
            <a:ext cx="810228" cy="266218"/>
          </a:xfrm>
          <a:prstGeom prst="chevron">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7</a:t>
            </a:r>
          </a:p>
        </p:txBody>
      </p:sp>
      <p:sp>
        <p:nvSpPr>
          <p:cNvPr id="129" name="Chevron 128">
            <a:extLst>
              <a:ext uri="{FF2B5EF4-FFF2-40B4-BE49-F238E27FC236}">
                <a16:creationId xmlns:a16="http://schemas.microsoft.com/office/drawing/2014/main" id="{991E814C-D498-F7EE-1FD3-9E5070BBB87C}"/>
              </a:ext>
            </a:extLst>
          </p:cNvPr>
          <p:cNvSpPr/>
          <p:nvPr/>
        </p:nvSpPr>
        <p:spPr>
          <a:xfrm>
            <a:off x="10596375" y="4602268"/>
            <a:ext cx="810228" cy="266218"/>
          </a:xfrm>
          <a:prstGeom prst="chevron">
            <a:avLst/>
          </a:prstGeom>
          <a:solidFill>
            <a:schemeClr val="accent6">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H</a:t>
            </a:r>
            <a:r>
              <a:rPr lang="en-US" sz="1600" baseline="-25000" dirty="0">
                <a:solidFill>
                  <a:schemeClr val="bg1"/>
                </a:solidFill>
              </a:rPr>
              <a:t>2N</a:t>
            </a:r>
          </a:p>
        </p:txBody>
      </p:sp>
      <p:sp>
        <p:nvSpPr>
          <p:cNvPr id="130" name="TextBox 129">
            <a:extLst>
              <a:ext uri="{FF2B5EF4-FFF2-40B4-BE49-F238E27FC236}">
                <a16:creationId xmlns:a16="http://schemas.microsoft.com/office/drawing/2014/main" id="{B4438398-6C2A-A67E-020E-8B4E95D5F4EA}"/>
              </a:ext>
            </a:extLst>
          </p:cNvPr>
          <p:cNvSpPr txBox="1"/>
          <p:nvPr/>
        </p:nvSpPr>
        <p:spPr>
          <a:xfrm rot="5400000">
            <a:off x="10818284" y="4205058"/>
            <a:ext cx="381836" cy="369332"/>
          </a:xfrm>
          <a:prstGeom prst="rect">
            <a:avLst/>
          </a:prstGeom>
          <a:noFill/>
        </p:spPr>
        <p:txBody>
          <a:bodyPr wrap="none" rtlCol="0">
            <a:spAutoFit/>
          </a:bodyPr>
          <a:lstStyle/>
          <a:p>
            <a:r>
              <a:rPr lang="en-US" dirty="0"/>
              <a:t>…</a:t>
            </a:r>
          </a:p>
        </p:txBody>
      </p:sp>
      <p:sp>
        <p:nvSpPr>
          <p:cNvPr id="131" name="Right Arrow 130">
            <a:extLst>
              <a:ext uri="{FF2B5EF4-FFF2-40B4-BE49-F238E27FC236}">
                <a16:creationId xmlns:a16="http://schemas.microsoft.com/office/drawing/2014/main" id="{60143F58-63B8-E349-EB2C-497271516594}"/>
              </a:ext>
            </a:extLst>
          </p:cNvPr>
          <p:cNvSpPr/>
          <p:nvPr/>
        </p:nvSpPr>
        <p:spPr>
          <a:xfrm>
            <a:off x="6579011" y="1892877"/>
            <a:ext cx="179882" cy="289061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ight Arrow 131">
            <a:extLst>
              <a:ext uri="{FF2B5EF4-FFF2-40B4-BE49-F238E27FC236}">
                <a16:creationId xmlns:a16="http://schemas.microsoft.com/office/drawing/2014/main" id="{90AFBEE2-62AD-479E-7704-9268DA0D1F9D}"/>
              </a:ext>
            </a:extLst>
          </p:cNvPr>
          <p:cNvSpPr/>
          <p:nvPr/>
        </p:nvSpPr>
        <p:spPr>
          <a:xfrm>
            <a:off x="8487844" y="1830986"/>
            <a:ext cx="179882" cy="289061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ight Arrow 132">
            <a:extLst>
              <a:ext uri="{FF2B5EF4-FFF2-40B4-BE49-F238E27FC236}">
                <a16:creationId xmlns:a16="http://schemas.microsoft.com/office/drawing/2014/main" id="{F0E4AD6A-29A0-C947-8462-253132CF5E74}"/>
              </a:ext>
            </a:extLst>
          </p:cNvPr>
          <p:cNvSpPr/>
          <p:nvPr/>
        </p:nvSpPr>
        <p:spPr>
          <a:xfrm>
            <a:off x="10251603" y="1805150"/>
            <a:ext cx="179882" cy="289061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TextBox 133">
            <a:extLst>
              <a:ext uri="{FF2B5EF4-FFF2-40B4-BE49-F238E27FC236}">
                <a16:creationId xmlns:a16="http://schemas.microsoft.com/office/drawing/2014/main" id="{E8E24218-EFB6-DE58-3B1B-7A4CF65AC596}"/>
              </a:ext>
            </a:extLst>
          </p:cNvPr>
          <p:cNvSpPr txBox="1"/>
          <p:nvPr/>
        </p:nvSpPr>
        <p:spPr>
          <a:xfrm>
            <a:off x="6156321" y="5432980"/>
            <a:ext cx="1154242" cy="738664"/>
          </a:xfrm>
          <a:prstGeom prst="rect">
            <a:avLst/>
          </a:prstGeom>
          <a:noFill/>
        </p:spPr>
        <p:txBody>
          <a:bodyPr wrap="square" rtlCol="0">
            <a:spAutoFit/>
          </a:bodyPr>
          <a:lstStyle/>
          <a:p>
            <a:pPr algn="ctr"/>
            <a:r>
              <a:rPr lang="en-US" sz="1400" dirty="0"/>
              <a:t>Meiotic mutation</a:t>
            </a:r>
          </a:p>
          <a:p>
            <a:pPr algn="ctr"/>
            <a:r>
              <a:rPr lang="en-US" sz="1400" dirty="0"/>
              <a:t>𝜇</a:t>
            </a:r>
          </a:p>
        </p:txBody>
      </p:sp>
      <p:sp>
        <p:nvSpPr>
          <p:cNvPr id="135" name="Up Arrow 134">
            <a:extLst>
              <a:ext uri="{FF2B5EF4-FFF2-40B4-BE49-F238E27FC236}">
                <a16:creationId xmlns:a16="http://schemas.microsoft.com/office/drawing/2014/main" id="{783EC9D4-B71F-D493-CA89-53A97B1454ED}"/>
              </a:ext>
            </a:extLst>
          </p:cNvPr>
          <p:cNvSpPr/>
          <p:nvPr/>
        </p:nvSpPr>
        <p:spPr>
          <a:xfrm>
            <a:off x="6373956" y="5194239"/>
            <a:ext cx="659547" cy="174231"/>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TextBox 135">
            <a:extLst>
              <a:ext uri="{FF2B5EF4-FFF2-40B4-BE49-F238E27FC236}">
                <a16:creationId xmlns:a16="http://schemas.microsoft.com/office/drawing/2014/main" id="{665C2C7B-A5D6-DA0E-62D5-B73F9DF1F750}"/>
              </a:ext>
            </a:extLst>
          </p:cNvPr>
          <p:cNvSpPr txBox="1"/>
          <p:nvPr/>
        </p:nvSpPr>
        <p:spPr>
          <a:xfrm>
            <a:off x="7888806" y="5416379"/>
            <a:ext cx="1444274" cy="523220"/>
          </a:xfrm>
          <a:prstGeom prst="rect">
            <a:avLst/>
          </a:prstGeom>
          <a:noFill/>
        </p:spPr>
        <p:txBody>
          <a:bodyPr wrap="square" rtlCol="0">
            <a:spAutoFit/>
          </a:bodyPr>
          <a:lstStyle/>
          <a:p>
            <a:pPr algn="ctr"/>
            <a:r>
              <a:rPr lang="en-US" sz="1400" dirty="0"/>
              <a:t>Recombination</a:t>
            </a:r>
          </a:p>
          <a:p>
            <a:pPr algn="ctr"/>
            <a:r>
              <a:rPr lang="en-US" sz="1400" dirty="0"/>
              <a:t>𝜌</a:t>
            </a:r>
          </a:p>
        </p:txBody>
      </p:sp>
      <p:sp>
        <p:nvSpPr>
          <p:cNvPr id="137" name="Up Arrow 136">
            <a:extLst>
              <a:ext uri="{FF2B5EF4-FFF2-40B4-BE49-F238E27FC236}">
                <a16:creationId xmlns:a16="http://schemas.microsoft.com/office/drawing/2014/main" id="{2D548F02-D356-9ABF-7B8A-9A2C9AEB59EB}"/>
              </a:ext>
            </a:extLst>
          </p:cNvPr>
          <p:cNvSpPr/>
          <p:nvPr/>
        </p:nvSpPr>
        <p:spPr>
          <a:xfrm>
            <a:off x="8232157" y="5172880"/>
            <a:ext cx="659547" cy="174231"/>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TextBox 138">
            <a:extLst>
              <a:ext uri="{FF2B5EF4-FFF2-40B4-BE49-F238E27FC236}">
                <a16:creationId xmlns:a16="http://schemas.microsoft.com/office/drawing/2014/main" id="{3422A913-E174-5565-866A-8F88571A3C62}"/>
              </a:ext>
            </a:extLst>
          </p:cNvPr>
          <p:cNvSpPr txBox="1"/>
          <p:nvPr/>
        </p:nvSpPr>
        <p:spPr>
          <a:xfrm>
            <a:off x="4179119" y="5461414"/>
            <a:ext cx="1154242" cy="738664"/>
          </a:xfrm>
          <a:prstGeom prst="rect">
            <a:avLst/>
          </a:prstGeom>
          <a:noFill/>
        </p:spPr>
        <p:txBody>
          <a:bodyPr wrap="square" rtlCol="0">
            <a:spAutoFit/>
          </a:bodyPr>
          <a:lstStyle/>
          <a:p>
            <a:pPr algn="ctr"/>
            <a:r>
              <a:rPr lang="en-US" sz="1400" dirty="0">
                <a:solidFill>
                  <a:schemeClr val="bg2">
                    <a:lumMod val="50000"/>
                  </a:schemeClr>
                </a:solidFill>
              </a:rPr>
              <a:t>** Mitotic mutation</a:t>
            </a:r>
          </a:p>
          <a:p>
            <a:pPr algn="ctr"/>
            <a:r>
              <a:rPr lang="en-US" sz="1400" dirty="0">
                <a:solidFill>
                  <a:schemeClr val="bg2">
                    <a:lumMod val="50000"/>
                  </a:schemeClr>
                </a:solidFill>
              </a:rPr>
              <a:t>𝜇</a:t>
            </a:r>
          </a:p>
        </p:txBody>
      </p:sp>
      <p:sp>
        <p:nvSpPr>
          <p:cNvPr id="140" name="Up Arrow 139">
            <a:extLst>
              <a:ext uri="{FF2B5EF4-FFF2-40B4-BE49-F238E27FC236}">
                <a16:creationId xmlns:a16="http://schemas.microsoft.com/office/drawing/2014/main" id="{B321EF62-0F65-473D-D246-C6C29BD6335D}"/>
              </a:ext>
            </a:extLst>
          </p:cNvPr>
          <p:cNvSpPr/>
          <p:nvPr/>
        </p:nvSpPr>
        <p:spPr>
          <a:xfrm>
            <a:off x="4396754" y="5222673"/>
            <a:ext cx="659547" cy="174231"/>
          </a:xfrm>
          <a:prstGeom prst="upArrow">
            <a:avLst/>
          </a:prstGeom>
          <a:solidFill>
            <a:schemeClr val="accent1">
              <a:alpha val="45000"/>
            </a:schemeClr>
          </a:solidFill>
          <a:ln>
            <a:solidFill>
              <a:schemeClr val="accent1">
                <a:shade val="15000"/>
                <a:alpha val="38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50000"/>
                </a:schemeClr>
              </a:solidFill>
            </a:endParaRPr>
          </a:p>
        </p:txBody>
      </p:sp>
      <p:sp>
        <p:nvSpPr>
          <p:cNvPr id="143" name="Rectangle 142">
            <a:extLst>
              <a:ext uri="{FF2B5EF4-FFF2-40B4-BE49-F238E27FC236}">
                <a16:creationId xmlns:a16="http://schemas.microsoft.com/office/drawing/2014/main" id="{C86194CB-D02D-B828-C6F1-73648F19F23D}"/>
              </a:ext>
            </a:extLst>
          </p:cNvPr>
          <p:cNvSpPr/>
          <p:nvPr/>
        </p:nvSpPr>
        <p:spPr>
          <a:xfrm>
            <a:off x="10570343" y="1455825"/>
            <a:ext cx="940132" cy="4798905"/>
          </a:xfrm>
          <a:prstGeom prst="rect">
            <a:avLst/>
          </a:prstGeom>
          <a:solidFill>
            <a:schemeClr val="accent1">
              <a:alpha val="3536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3D3D495D-55E8-43C2-DA39-50737B329338}"/>
              </a:ext>
            </a:extLst>
          </p:cNvPr>
          <p:cNvSpPr/>
          <p:nvPr/>
        </p:nvSpPr>
        <p:spPr>
          <a:xfrm>
            <a:off x="5235817" y="1439066"/>
            <a:ext cx="5287279" cy="4798905"/>
          </a:xfrm>
          <a:prstGeom prst="rect">
            <a:avLst/>
          </a:prstGeom>
          <a:solidFill>
            <a:schemeClr val="accent2">
              <a:lumMod val="60000"/>
              <a:lumOff val="40000"/>
              <a:alpha val="1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Chevron 144">
            <a:extLst>
              <a:ext uri="{FF2B5EF4-FFF2-40B4-BE49-F238E27FC236}">
                <a16:creationId xmlns:a16="http://schemas.microsoft.com/office/drawing/2014/main" id="{C5CF0A2B-A373-D119-7E40-1A5366E3FDB2}"/>
              </a:ext>
            </a:extLst>
          </p:cNvPr>
          <p:cNvSpPr/>
          <p:nvPr/>
        </p:nvSpPr>
        <p:spPr>
          <a:xfrm>
            <a:off x="11568917" y="2578889"/>
            <a:ext cx="566138" cy="261610"/>
          </a:xfrm>
          <a:prstGeom prst="chevron">
            <a:avLst>
              <a:gd name="adj" fmla="val 29028"/>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H</a:t>
            </a:r>
            <a:r>
              <a:rPr lang="en-US" sz="800" baseline="-25000" dirty="0">
                <a:solidFill>
                  <a:schemeClr val="bg1"/>
                </a:solidFill>
              </a:rPr>
              <a:t>4</a:t>
            </a:r>
          </a:p>
        </p:txBody>
      </p:sp>
      <p:sp>
        <p:nvSpPr>
          <p:cNvPr id="146" name="Chevron 145">
            <a:extLst>
              <a:ext uri="{FF2B5EF4-FFF2-40B4-BE49-F238E27FC236}">
                <a16:creationId xmlns:a16="http://schemas.microsoft.com/office/drawing/2014/main" id="{3A33EEF7-3D65-5C77-45CC-35700616D387}"/>
              </a:ext>
            </a:extLst>
          </p:cNvPr>
          <p:cNvSpPr/>
          <p:nvPr/>
        </p:nvSpPr>
        <p:spPr>
          <a:xfrm>
            <a:off x="11568917" y="2949853"/>
            <a:ext cx="566138" cy="261610"/>
          </a:xfrm>
          <a:prstGeom prst="chevron">
            <a:avLst>
              <a:gd name="adj" fmla="val 25533"/>
            </a:avLst>
          </a:prstGeom>
          <a:solidFill>
            <a:schemeClr val="accent3">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H</a:t>
            </a:r>
            <a:r>
              <a:rPr lang="en-US" sz="800" baseline="-25000" dirty="0">
                <a:solidFill>
                  <a:schemeClr val="bg1"/>
                </a:solidFill>
              </a:rPr>
              <a:t>8</a:t>
            </a:r>
          </a:p>
        </p:txBody>
      </p:sp>
      <p:sp>
        <p:nvSpPr>
          <p:cNvPr id="147" name="Chevron 146">
            <a:extLst>
              <a:ext uri="{FF2B5EF4-FFF2-40B4-BE49-F238E27FC236}">
                <a16:creationId xmlns:a16="http://schemas.microsoft.com/office/drawing/2014/main" id="{E765427D-5E34-F7F4-5B03-009B33C8D9D2}"/>
              </a:ext>
            </a:extLst>
          </p:cNvPr>
          <p:cNvSpPr/>
          <p:nvPr/>
        </p:nvSpPr>
        <p:spPr>
          <a:xfrm>
            <a:off x="11568917" y="3290203"/>
            <a:ext cx="566138" cy="261610"/>
          </a:xfrm>
          <a:prstGeom prst="chevron">
            <a:avLst>
              <a:gd name="adj" fmla="val 22038"/>
            </a:avLst>
          </a:prstGeom>
          <a:solidFill>
            <a:schemeClr val="accent4">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H</a:t>
            </a:r>
            <a:r>
              <a:rPr lang="en-US" sz="700" baseline="-25000" dirty="0">
                <a:solidFill>
                  <a:schemeClr val="bg1"/>
                </a:solidFill>
              </a:rPr>
              <a:t>23</a:t>
            </a:r>
          </a:p>
        </p:txBody>
      </p:sp>
      <p:sp>
        <p:nvSpPr>
          <p:cNvPr id="148" name="Chevron 147">
            <a:extLst>
              <a:ext uri="{FF2B5EF4-FFF2-40B4-BE49-F238E27FC236}">
                <a16:creationId xmlns:a16="http://schemas.microsoft.com/office/drawing/2014/main" id="{F3410A35-A78F-141D-A9E1-555B740CFFC4}"/>
              </a:ext>
            </a:extLst>
          </p:cNvPr>
          <p:cNvSpPr/>
          <p:nvPr/>
        </p:nvSpPr>
        <p:spPr>
          <a:xfrm>
            <a:off x="11562395" y="3906841"/>
            <a:ext cx="566138" cy="261610"/>
          </a:xfrm>
          <a:prstGeom prst="chevron">
            <a:avLst>
              <a:gd name="adj" fmla="val 25533"/>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bg1"/>
                </a:solidFill>
              </a:rPr>
              <a:t>H</a:t>
            </a:r>
            <a:r>
              <a:rPr lang="en-US" sz="800" baseline="-25000" dirty="0" err="1">
                <a:solidFill>
                  <a:schemeClr val="bg1"/>
                </a:solidFill>
              </a:rPr>
              <a:t>n</a:t>
            </a:r>
            <a:endParaRPr lang="en-US" sz="800" baseline="-25000" dirty="0">
              <a:solidFill>
                <a:schemeClr val="bg1"/>
              </a:solidFill>
            </a:endParaRPr>
          </a:p>
        </p:txBody>
      </p:sp>
      <p:sp>
        <p:nvSpPr>
          <p:cNvPr id="150" name="Left Brace 149">
            <a:extLst>
              <a:ext uri="{FF2B5EF4-FFF2-40B4-BE49-F238E27FC236}">
                <a16:creationId xmlns:a16="http://schemas.microsoft.com/office/drawing/2014/main" id="{BDCEE842-8052-A6A6-BBCA-71BFA8D6B4C1}"/>
              </a:ext>
            </a:extLst>
          </p:cNvPr>
          <p:cNvSpPr/>
          <p:nvPr/>
        </p:nvSpPr>
        <p:spPr>
          <a:xfrm rot="5400000">
            <a:off x="7188420" y="-3772041"/>
            <a:ext cx="190371" cy="851763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1" name="TextBox 150">
            <a:extLst>
              <a:ext uri="{FF2B5EF4-FFF2-40B4-BE49-F238E27FC236}">
                <a16:creationId xmlns:a16="http://schemas.microsoft.com/office/drawing/2014/main" id="{82575D97-7DFE-8496-CF6E-B1CBB01942D5}"/>
              </a:ext>
            </a:extLst>
          </p:cNvPr>
          <p:cNvSpPr txBox="1"/>
          <p:nvPr/>
        </p:nvSpPr>
        <p:spPr>
          <a:xfrm rot="5400000">
            <a:off x="11681040" y="3532246"/>
            <a:ext cx="381836" cy="369332"/>
          </a:xfrm>
          <a:prstGeom prst="rect">
            <a:avLst/>
          </a:prstGeom>
          <a:noFill/>
        </p:spPr>
        <p:txBody>
          <a:bodyPr wrap="none" rtlCol="0">
            <a:spAutoFit/>
          </a:bodyPr>
          <a:lstStyle/>
          <a:p>
            <a:r>
              <a:rPr lang="en-US" dirty="0"/>
              <a:t>…</a:t>
            </a:r>
          </a:p>
        </p:txBody>
      </p:sp>
      <p:sp>
        <p:nvSpPr>
          <p:cNvPr id="152" name="TextBox 151">
            <a:extLst>
              <a:ext uri="{FF2B5EF4-FFF2-40B4-BE49-F238E27FC236}">
                <a16:creationId xmlns:a16="http://schemas.microsoft.com/office/drawing/2014/main" id="{58E2B3BA-386F-383D-2BE7-A5D858321C74}"/>
              </a:ext>
            </a:extLst>
          </p:cNvPr>
          <p:cNvSpPr txBox="1"/>
          <p:nvPr/>
        </p:nvSpPr>
        <p:spPr>
          <a:xfrm>
            <a:off x="11555678" y="2256366"/>
            <a:ext cx="503123" cy="276999"/>
          </a:xfrm>
          <a:prstGeom prst="rect">
            <a:avLst/>
          </a:prstGeom>
          <a:noFill/>
        </p:spPr>
        <p:txBody>
          <a:bodyPr wrap="square" rtlCol="0">
            <a:spAutoFit/>
          </a:bodyPr>
          <a:lstStyle/>
          <a:p>
            <a:pPr algn="ctr"/>
            <a:r>
              <a:rPr lang="en-US" sz="600" dirty="0"/>
              <a:t>Pick n Samples</a:t>
            </a:r>
          </a:p>
        </p:txBody>
      </p:sp>
      <p:sp>
        <p:nvSpPr>
          <p:cNvPr id="153" name="Rectangle 152">
            <a:extLst>
              <a:ext uri="{FF2B5EF4-FFF2-40B4-BE49-F238E27FC236}">
                <a16:creationId xmlns:a16="http://schemas.microsoft.com/office/drawing/2014/main" id="{9BF23BC0-1939-E3FE-D728-6AF46AD13C66}"/>
              </a:ext>
            </a:extLst>
          </p:cNvPr>
          <p:cNvSpPr/>
          <p:nvPr/>
        </p:nvSpPr>
        <p:spPr>
          <a:xfrm>
            <a:off x="283725" y="4895513"/>
            <a:ext cx="1906185" cy="372678"/>
          </a:xfrm>
          <a:prstGeom prst="rect">
            <a:avLst/>
          </a:prstGeom>
          <a:solidFill>
            <a:schemeClr val="accent1">
              <a:alpha val="3536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Haploid stage</a:t>
            </a:r>
          </a:p>
        </p:txBody>
      </p:sp>
      <p:sp>
        <p:nvSpPr>
          <p:cNvPr id="154" name="Rectangle 153">
            <a:extLst>
              <a:ext uri="{FF2B5EF4-FFF2-40B4-BE49-F238E27FC236}">
                <a16:creationId xmlns:a16="http://schemas.microsoft.com/office/drawing/2014/main" id="{269372BE-0FFF-2455-97D6-B4AF556074B3}"/>
              </a:ext>
            </a:extLst>
          </p:cNvPr>
          <p:cNvSpPr/>
          <p:nvPr/>
        </p:nvSpPr>
        <p:spPr>
          <a:xfrm>
            <a:off x="290352" y="5404001"/>
            <a:ext cx="1899559" cy="393540"/>
          </a:xfrm>
          <a:prstGeom prst="rect">
            <a:avLst/>
          </a:prstGeom>
          <a:solidFill>
            <a:schemeClr val="accent2">
              <a:lumMod val="60000"/>
              <a:lumOff val="40000"/>
              <a:alpha val="1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Diploid stage</a:t>
            </a:r>
          </a:p>
        </p:txBody>
      </p:sp>
      <p:sp>
        <p:nvSpPr>
          <p:cNvPr id="156" name="TextBox 155">
            <a:extLst>
              <a:ext uri="{FF2B5EF4-FFF2-40B4-BE49-F238E27FC236}">
                <a16:creationId xmlns:a16="http://schemas.microsoft.com/office/drawing/2014/main" id="{CB829246-A8A1-04C3-EBE7-59355D8B8DA1}"/>
              </a:ext>
            </a:extLst>
          </p:cNvPr>
          <p:cNvSpPr txBox="1"/>
          <p:nvPr/>
        </p:nvSpPr>
        <p:spPr>
          <a:xfrm>
            <a:off x="509666" y="6071016"/>
            <a:ext cx="1677639" cy="369332"/>
          </a:xfrm>
          <a:prstGeom prst="rect">
            <a:avLst/>
          </a:prstGeom>
          <a:noFill/>
        </p:spPr>
        <p:txBody>
          <a:bodyPr wrap="none" rtlCol="0">
            <a:spAutoFit/>
          </a:bodyPr>
          <a:lstStyle/>
          <a:p>
            <a:r>
              <a:rPr lang="en-US" dirty="0"/>
              <a:t>** No available</a:t>
            </a:r>
          </a:p>
        </p:txBody>
      </p:sp>
    </p:spTree>
    <p:extLst>
      <p:ext uri="{BB962C8B-B14F-4D97-AF65-F5344CB8AC3E}">
        <p14:creationId xmlns:p14="http://schemas.microsoft.com/office/powerpoint/2010/main" val="382083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5DE708B3-A80F-38C3-57EB-F8990C02439D}"/>
              </a:ext>
            </a:extLst>
          </p:cNvPr>
          <p:cNvCxnSpPr>
            <a:cxnSpLocks/>
          </p:cNvCxnSpPr>
          <p:nvPr/>
        </p:nvCxnSpPr>
        <p:spPr>
          <a:xfrm>
            <a:off x="6061023" y="989351"/>
            <a:ext cx="0" cy="5261547"/>
          </a:xfrm>
          <a:prstGeom prst="line">
            <a:avLst/>
          </a:prstGeom>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40613162-8D58-F507-8E6D-768571CCFAB4}"/>
              </a:ext>
            </a:extLst>
          </p:cNvPr>
          <p:cNvSpPr txBox="1"/>
          <p:nvPr/>
        </p:nvSpPr>
        <p:spPr>
          <a:xfrm>
            <a:off x="2233534" y="374754"/>
            <a:ext cx="1074590" cy="369332"/>
          </a:xfrm>
          <a:prstGeom prst="rect">
            <a:avLst/>
          </a:prstGeom>
          <a:noFill/>
        </p:spPr>
        <p:txBody>
          <a:bodyPr wrap="none" rtlCol="0">
            <a:spAutoFit/>
          </a:bodyPr>
          <a:lstStyle/>
          <a:p>
            <a:r>
              <a:rPr lang="en-US" dirty="0"/>
              <a:t>Mutation</a:t>
            </a:r>
          </a:p>
        </p:txBody>
      </p:sp>
      <p:sp>
        <p:nvSpPr>
          <p:cNvPr id="9" name="TextBox 8">
            <a:extLst>
              <a:ext uri="{FF2B5EF4-FFF2-40B4-BE49-F238E27FC236}">
                <a16:creationId xmlns:a16="http://schemas.microsoft.com/office/drawing/2014/main" id="{4EB1D2BB-59AF-BB61-971B-EB44B55EF630}"/>
              </a:ext>
            </a:extLst>
          </p:cNvPr>
          <p:cNvSpPr txBox="1"/>
          <p:nvPr/>
        </p:nvSpPr>
        <p:spPr>
          <a:xfrm>
            <a:off x="8381998" y="374754"/>
            <a:ext cx="1707070" cy="369332"/>
          </a:xfrm>
          <a:prstGeom prst="rect">
            <a:avLst/>
          </a:prstGeom>
          <a:noFill/>
        </p:spPr>
        <p:txBody>
          <a:bodyPr wrap="none" rtlCol="0">
            <a:spAutoFit/>
          </a:bodyPr>
          <a:lstStyle/>
          <a:p>
            <a:r>
              <a:rPr lang="en-US" dirty="0"/>
              <a:t>Recombination</a:t>
            </a:r>
          </a:p>
        </p:txBody>
      </p:sp>
      <p:pic>
        <p:nvPicPr>
          <p:cNvPr id="10" name="Picture 9">
            <a:extLst>
              <a:ext uri="{FF2B5EF4-FFF2-40B4-BE49-F238E27FC236}">
                <a16:creationId xmlns:a16="http://schemas.microsoft.com/office/drawing/2014/main" id="{D68DE5A6-800A-02CE-877A-A6DBC7C25807}"/>
              </a:ext>
            </a:extLst>
          </p:cNvPr>
          <p:cNvPicPr>
            <a:picLocks noChangeAspect="1"/>
          </p:cNvPicPr>
          <p:nvPr/>
        </p:nvPicPr>
        <p:blipFill>
          <a:blip r:embed="rId2"/>
          <a:stretch>
            <a:fillRect/>
          </a:stretch>
        </p:blipFill>
        <p:spPr>
          <a:xfrm>
            <a:off x="359955" y="1597815"/>
            <a:ext cx="5366284" cy="446237"/>
          </a:xfrm>
          <a:prstGeom prst="rect">
            <a:avLst/>
          </a:prstGeom>
        </p:spPr>
      </p:pic>
      <p:sp>
        <p:nvSpPr>
          <p:cNvPr id="11" name="TextBox 10">
            <a:extLst>
              <a:ext uri="{FF2B5EF4-FFF2-40B4-BE49-F238E27FC236}">
                <a16:creationId xmlns:a16="http://schemas.microsoft.com/office/drawing/2014/main" id="{BD20D70A-20A3-87CB-66B3-A7E78ABE81BE}"/>
              </a:ext>
            </a:extLst>
          </p:cNvPr>
          <p:cNvSpPr txBox="1"/>
          <p:nvPr/>
        </p:nvSpPr>
        <p:spPr>
          <a:xfrm>
            <a:off x="267675" y="1228483"/>
            <a:ext cx="1965859" cy="369332"/>
          </a:xfrm>
          <a:prstGeom prst="rect">
            <a:avLst/>
          </a:prstGeom>
          <a:noFill/>
        </p:spPr>
        <p:txBody>
          <a:bodyPr wrap="none" rtlCol="0">
            <a:spAutoFit/>
          </a:bodyPr>
          <a:lstStyle/>
          <a:p>
            <a:r>
              <a:rPr lang="en-US" dirty="0"/>
              <a:t>For each position:</a:t>
            </a:r>
          </a:p>
        </p:txBody>
      </p:sp>
      <p:pic>
        <p:nvPicPr>
          <p:cNvPr id="12" name="Picture 11">
            <a:extLst>
              <a:ext uri="{FF2B5EF4-FFF2-40B4-BE49-F238E27FC236}">
                <a16:creationId xmlns:a16="http://schemas.microsoft.com/office/drawing/2014/main" id="{5B7EE422-B065-87B0-23B3-AFFA30B6D870}"/>
              </a:ext>
            </a:extLst>
          </p:cNvPr>
          <p:cNvPicPr>
            <a:picLocks noChangeAspect="1"/>
          </p:cNvPicPr>
          <p:nvPr/>
        </p:nvPicPr>
        <p:blipFill>
          <a:blip r:embed="rId3"/>
          <a:stretch>
            <a:fillRect/>
          </a:stretch>
        </p:blipFill>
        <p:spPr>
          <a:xfrm>
            <a:off x="359955" y="2879043"/>
            <a:ext cx="5366277" cy="446236"/>
          </a:xfrm>
          <a:prstGeom prst="rect">
            <a:avLst/>
          </a:prstGeom>
        </p:spPr>
      </p:pic>
      <p:sp>
        <p:nvSpPr>
          <p:cNvPr id="13" name="Down Arrow 12">
            <a:extLst>
              <a:ext uri="{FF2B5EF4-FFF2-40B4-BE49-F238E27FC236}">
                <a16:creationId xmlns:a16="http://schemas.microsoft.com/office/drawing/2014/main" id="{EE2C3DBF-03C3-3E6F-564E-294164DD14AE}"/>
              </a:ext>
            </a:extLst>
          </p:cNvPr>
          <p:cNvSpPr/>
          <p:nvPr/>
        </p:nvSpPr>
        <p:spPr>
          <a:xfrm>
            <a:off x="2408714" y="2379101"/>
            <a:ext cx="899410" cy="1648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Left Brace 14">
            <a:extLst>
              <a:ext uri="{FF2B5EF4-FFF2-40B4-BE49-F238E27FC236}">
                <a16:creationId xmlns:a16="http://schemas.microsoft.com/office/drawing/2014/main" id="{A79459F1-E351-DFDA-70B0-F5337CD4C94D}"/>
              </a:ext>
            </a:extLst>
          </p:cNvPr>
          <p:cNvSpPr/>
          <p:nvPr/>
        </p:nvSpPr>
        <p:spPr>
          <a:xfrm rot="16200000">
            <a:off x="2076643" y="2574053"/>
            <a:ext cx="231329" cy="194122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BD694E53-765F-2EE6-5B15-1B171B104DD3}"/>
              </a:ext>
            </a:extLst>
          </p:cNvPr>
          <p:cNvSpPr txBox="1"/>
          <p:nvPr/>
        </p:nvSpPr>
        <p:spPr>
          <a:xfrm>
            <a:off x="1502180" y="3764049"/>
            <a:ext cx="1462708" cy="646331"/>
          </a:xfrm>
          <a:prstGeom prst="rect">
            <a:avLst/>
          </a:prstGeom>
          <a:noFill/>
        </p:spPr>
        <p:txBody>
          <a:bodyPr wrap="none" rtlCol="0">
            <a:spAutoFit/>
          </a:bodyPr>
          <a:lstStyle/>
          <a:p>
            <a:r>
              <a:rPr lang="en-US" dirty="0"/>
              <a:t>If word exist</a:t>
            </a:r>
          </a:p>
          <a:p>
            <a:r>
              <a:rPr lang="en-US" dirty="0"/>
              <a:t>Keep change</a:t>
            </a:r>
          </a:p>
        </p:txBody>
      </p:sp>
      <p:sp>
        <p:nvSpPr>
          <p:cNvPr id="17" name="Down Arrow 16">
            <a:extLst>
              <a:ext uri="{FF2B5EF4-FFF2-40B4-BE49-F238E27FC236}">
                <a16:creationId xmlns:a16="http://schemas.microsoft.com/office/drawing/2014/main" id="{9A80DC05-B28A-1094-C4B0-7A0D4C5D0C9E}"/>
              </a:ext>
            </a:extLst>
          </p:cNvPr>
          <p:cNvSpPr/>
          <p:nvPr/>
        </p:nvSpPr>
        <p:spPr>
          <a:xfrm>
            <a:off x="2515183" y="4660104"/>
            <a:ext cx="899410" cy="1648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a:extLst>
              <a:ext uri="{FF2B5EF4-FFF2-40B4-BE49-F238E27FC236}">
                <a16:creationId xmlns:a16="http://schemas.microsoft.com/office/drawing/2014/main" id="{C806B5EC-990D-E7A3-4706-5D7634323FAC}"/>
              </a:ext>
            </a:extLst>
          </p:cNvPr>
          <p:cNvPicPr>
            <a:picLocks noChangeAspect="1"/>
          </p:cNvPicPr>
          <p:nvPr/>
        </p:nvPicPr>
        <p:blipFill>
          <a:blip r:embed="rId4"/>
          <a:stretch>
            <a:fillRect/>
          </a:stretch>
        </p:blipFill>
        <p:spPr>
          <a:xfrm>
            <a:off x="359955" y="5183281"/>
            <a:ext cx="5366276" cy="446236"/>
          </a:xfrm>
          <a:prstGeom prst="rect">
            <a:avLst/>
          </a:prstGeom>
        </p:spPr>
      </p:pic>
      <p:sp>
        <p:nvSpPr>
          <p:cNvPr id="19" name="TextBox 18">
            <a:extLst>
              <a:ext uri="{FF2B5EF4-FFF2-40B4-BE49-F238E27FC236}">
                <a16:creationId xmlns:a16="http://schemas.microsoft.com/office/drawing/2014/main" id="{46A9FCDC-BF87-C4F0-6C21-533FAF877582}"/>
              </a:ext>
            </a:extLst>
          </p:cNvPr>
          <p:cNvSpPr txBox="1"/>
          <p:nvPr/>
        </p:nvSpPr>
        <p:spPr>
          <a:xfrm>
            <a:off x="7225259" y="1678898"/>
            <a:ext cx="2457981" cy="369332"/>
          </a:xfrm>
          <a:prstGeom prst="rect">
            <a:avLst/>
          </a:prstGeom>
          <a:noFill/>
        </p:spPr>
        <p:txBody>
          <a:bodyPr wrap="none" rtlCol="0">
            <a:spAutoFit/>
          </a:bodyPr>
          <a:lstStyle/>
          <a:p>
            <a:r>
              <a:rPr lang="en-US" dirty="0"/>
              <a:t>My sentences variant 1</a:t>
            </a:r>
          </a:p>
        </p:txBody>
      </p:sp>
      <p:sp>
        <p:nvSpPr>
          <p:cNvPr id="20" name="TextBox 19">
            <a:extLst>
              <a:ext uri="{FF2B5EF4-FFF2-40B4-BE49-F238E27FC236}">
                <a16:creationId xmlns:a16="http://schemas.microsoft.com/office/drawing/2014/main" id="{A900A057-B52C-8E50-32B2-63B31A740368}"/>
              </a:ext>
            </a:extLst>
          </p:cNvPr>
          <p:cNvSpPr txBox="1"/>
          <p:nvPr/>
        </p:nvSpPr>
        <p:spPr>
          <a:xfrm>
            <a:off x="7225259" y="2543993"/>
            <a:ext cx="3329438" cy="369332"/>
          </a:xfrm>
          <a:prstGeom prst="rect">
            <a:avLst/>
          </a:prstGeom>
          <a:noFill/>
        </p:spPr>
        <p:txBody>
          <a:bodyPr wrap="none" rtlCol="0">
            <a:spAutoFit/>
          </a:bodyPr>
          <a:lstStyle/>
          <a:p>
            <a:r>
              <a:rPr lang="en-US" dirty="0">
                <a:solidFill>
                  <a:schemeClr val="tx2">
                    <a:lumMod val="50000"/>
                    <a:lumOff val="50000"/>
                  </a:schemeClr>
                </a:solidFill>
              </a:rPr>
              <a:t>This is another sentence variant</a:t>
            </a:r>
          </a:p>
        </p:txBody>
      </p:sp>
      <p:cxnSp>
        <p:nvCxnSpPr>
          <p:cNvPr id="22" name="Straight Connector 21">
            <a:extLst>
              <a:ext uri="{FF2B5EF4-FFF2-40B4-BE49-F238E27FC236}">
                <a16:creationId xmlns:a16="http://schemas.microsoft.com/office/drawing/2014/main" id="{6456B4E4-9F14-37A1-4FC7-CD69458FA8F5}"/>
              </a:ext>
            </a:extLst>
          </p:cNvPr>
          <p:cNvCxnSpPr/>
          <p:nvPr/>
        </p:nvCxnSpPr>
        <p:spPr>
          <a:xfrm>
            <a:off x="7615003" y="1678898"/>
            <a:ext cx="0" cy="365154"/>
          </a:xfrm>
          <a:prstGeom prst="line">
            <a:avLst/>
          </a:prstGeom>
          <a:ln w="34925">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5DF3F0A0-00D5-6CBD-1A28-C195A31F74DA}"/>
              </a:ext>
            </a:extLst>
          </p:cNvPr>
          <p:cNvCxnSpPr/>
          <p:nvPr/>
        </p:nvCxnSpPr>
        <p:spPr>
          <a:xfrm>
            <a:off x="7962275" y="2548171"/>
            <a:ext cx="0" cy="365154"/>
          </a:xfrm>
          <a:prstGeom prst="line">
            <a:avLst/>
          </a:prstGeom>
          <a:ln w="34925">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AD99AB8F-F8CC-998C-7768-913B9B9F28F3}"/>
              </a:ext>
            </a:extLst>
          </p:cNvPr>
          <p:cNvCxnSpPr/>
          <p:nvPr/>
        </p:nvCxnSpPr>
        <p:spPr>
          <a:xfrm>
            <a:off x="7629993" y="2044052"/>
            <a:ext cx="344774" cy="499941"/>
          </a:xfrm>
          <a:prstGeom prst="line">
            <a:avLst/>
          </a:prstGeom>
          <a:ln w="34925">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Down Arrow 25">
            <a:extLst>
              <a:ext uri="{FF2B5EF4-FFF2-40B4-BE49-F238E27FC236}">
                <a16:creationId xmlns:a16="http://schemas.microsoft.com/office/drawing/2014/main" id="{15417365-1C40-FF85-74EE-F5267A4136B7}"/>
              </a:ext>
            </a:extLst>
          </p:cNvPr>
          <p:cNvSpPr/>
          <p:nvPr/>
        </p:nvSpPr>
        <p:spPr>
          <a:xfrm>
            <a:off x="8407276" y="3192551"/>
            <a:ext cx="899410" cy="1648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AA22709A-983F-6FE9-DAB4-72FD6E03C642}"/>
              </a:ext>
            </a:extLst>
          </p:cNvPr>
          <p:cNvSpPr txBox="1"/>
          <p:nvPr/>
        </p:nvSpPr>
        <p:spPr>
          <a:xfrm>
            <a:off x="7629993" y="3657600"/>
            <a:ext cx="2999796" cy="369332"/>
          </a:xfrm>
          <a:prstGeom prst="rect">
            <a:avLst/>
          </a:prstGeom>
          <a:noFill/>
        </p:spPr>
        <p:txBody>
          <a:bodyPr wrap="none" rtlCol="0">
            <a:spAutoFit/>
          </a:bodyPr>
          <a:lstStyle/>
          <a:p>
            <a:r>
              <a:rPr lang="en-US" dirty="0"/>
              <a:t>My </a:t>
            </a:r>
            <a:r>
              <a:rPr lang="en-US" dirty="0">
                <a:solidFill>
                  <a:schemeClr val="tx2">
                    <a:lumMod val="50000"/>
                    <a:lumOff val="50000"/>
                  </a:schemeClr>
                </a:solidFill>
              </a:rPr>
              <a:t>another sentence variant</a:t>
            </a:r>
          </a:p>
        </p:txBody>
      </p:sp>
      <p:sp>
        <p:nvSpPr>
          <p:cNvPr id="28" name="TextBox 27">
            <a:extLst>
              <a:ext uri="{FF2B5EF4-FFF2-40B4-BE49-F238E27FC236}">
                <a16:creationId xmlns:a16="http://schemas.microsoft.com/office/drawing/2014/main" id="{13B60B5F-9ADB-B16D-5A2F-89585F1E4DC1}"/>
              </a:ext>
            </a:extLst>
          </p:cNvPr>
          <p:cNvSpPr txBox="1"/>
          <p:nvPr/>
        </p:nvSpPr>
        <p:spPr>
          <a:xfrm>
            <a:off x="7641351" y="4225714"/>
            <a:ext cx="2660985" cy="369332"/>
          </a:xfrm>
          <a:prstGeom prst="rect">
            <a:avLst/>
          </a:prstGeom>
          <a:noFill/>
        </p:spPr>
        <p:txBody>
          <a:bodyPr wrap="none" rtlCol="0">
            <a:spAutoFit/>
          </a:bodyPr>
          <a:lstStyle/>
          <a:p>
            <a:r>
              <a:rPr lang="en-US" dirty="0">
                <a:solidFill>
                  <a:schemeClr val="tx2">
                    <a:lumMod val="50000"/>
                    <a:lumOff val="50000"/>
                  </a:schemeClr>
                </a:solidFill>
              </a:rPr>
              <a:t>This is </a:t>
            </a:r>
            <a:r>
              <a:rPr lang="en-US" dirty="0" err="1"/>
              <a:t>senteces</a:t>
            </a:r>
            <a:r>
              <a:rPr lang="en-US" dirty="0"/>
              <a:t> variant 1</a:t>
            </a:r>
          </a:p>
        </p:txBody>
      </p:sp>
    </p:spTree>
    <p:extLst>
      <p:ext uri="{BB962C8B-B14F-4D97-AF65-F5344CB8AC3E}">
        <p14:creationId xmlns:p14="http://schemas.microsoft.com/office/powerpoint/2010/main" val="22003734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484</Words>
  <Application>Microsoft Macintosh PowerPoint</Application>
  <PresentationFormat>Widescreen</PresentationFormat>
  <Paragraphs>113</Paragraphs>
  <Slides>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Paulo Cesar Manrique Valverde</dc:creator>
  <cp:lastModifiedBy>Paulo Cesar Manrique Valverde</cp:lastModifiedBy>
  <cp:revision>1</cp:revision>
  <dcterms:created xsi:type="dcterms:W3CDTF">2025-07-10T16:29:26Z</dcterms:created>
  <dcterms:modified xsi:type="dcterms:W3CDTF">2025-07-10T18:12:36Z</dcterms:modified>
</cp:coreProperties>
</file>